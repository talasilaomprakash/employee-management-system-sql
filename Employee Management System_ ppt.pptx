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91"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9" r:id="rId30"/>
    <p:sldId id="290" r:id="rId31"/>
    <p:sldId id="286" r:id="rId32"/>
    <p:sldId id="287" r:id="rId33"/>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5CAE3B-6747-4987-B0C9-CCC74288AA3D}" v="1909" dt="2025-11-23T10:17:12.561"/>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8" d="100"/>
          <a:sy n="78" d="100"/>
        </p:scale>
        <p:origin x="-1536" y="-8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8963025" y="6286500"/>
            <a:ext cx="2933699" cy="447674"/>
          </a:xfrm>
          <a:prstGeom prst="rect">
            <a:avLst/>
          </a:prstGeom>
        </p:spPr>
      </p:pic>
      <p:sp>
        <p:nvSpPr>
          <p:cNvPr id="2" name="Holder 2"/>
          <p:cNvSpPr>
            <a:spLocks noGrp="1"/>
          </p:cNvSpPr>
          <p:nvPr>
            <p:ph type="title"/>
          </p:nvPr>
        </p:nvSpPr>
        <p:spPr>
          <a:xfrm>
            <a:off x="132394" y="188966"/>
            <a:ext cx="10430490" cy="2592550"/>
          </a:xfrm>
          <a:prstGeom prst="rect">
            <a:avLst/>
          </a:prstGeom>
        </p:spPr>
        <p:txBody>
          <a:bodyPr wrap="square" lIns="0" tIns="0" rIns="0" bIns="0">
            <a:spAutoFit/>
          </a:bodyPr>
          <a:lstStyle>
            <a:lvl1pPr>
              <a:defRPr sz="20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84837" y="1277042"/>
            <a:ext cx="10822324" cy="4216400"/>
          </a:xfrm>
          <a:prstGeom prst="rect">
            <a:avLst/>
          </a:prstGeom>
        </p:spPr>
        <p:txBody>
          <a:bodyPr wrap="square" lIns="0" tIns="0" rIns="0" bIns="0">
            <a:spAutoFit/>
          </a:bodyPr>
          <a:lstStyle>
            <a:lvl1pPr>
              <a:defRPr sz="2400" b="1"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11/23/2025</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1.png"/><Relationship Id="rId7"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4.xml"/><Relationship Id="rId6" Type="http://schemas.openxmlformats.org/officeDocument/2006/relationships/image" Target="../media/image30.jpg"/><Relationship Id="rId5" Type="http://schemas.openxmlformats.org/officeDocument/2006/relationships/image" Target="../media/image29.png"/><Relationship Id="rId4" Type="http://schemas.openxmlformats.org/officeDocument/2006/relationships/image" Target="../media/image28.png"/><Relationship Id="rId9" Type="http://schemas.openxmlformats.org/officeDocument/2006/relationships/image" Target="../media/image33.jpeg"/></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39.png"/><Relationship Id="rId7" Type="http://schemas.openxmlformats.org/officeDocument/2006/relationships/image" Target="../media/image42.png"/><Relationship Id="rId2"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41.png"/><Relationship Id="rId5" Type="http://schemas.openxmlformats.org/officeDocument/2006/relationships/image" Target="../media/image30.jpg"/><Relationship Id="rId4" Type="http://schemas.openxmlformats.org/officeDocument/2006/relationships/image" Target="../media/image40.png"/></Relationships>
</file>

<file path=ppt/slides/_rels/slide1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5.xml"/><Relationship Id="rId4" Type="http://schemas.openxmlformats.org/officeDocument/2006/relationships/image" Target="../media/image48.jpeg"/></Relationships>
</file>

<file path=ppt/slides/_rels/slide1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4.xml"/><Relationship Id="rId4" Type="http://schemas.openxmlformats.org/officeDocument/2006/relationships/image" Target="../media/image51.jpeg"/></Relationships>
</file>

<file path=ppt/slides/_rels/slide15.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2.png"/><Relationship Id="rId7" Type="http://schemas.openxmlformats.org/officeDocument/2006/relationships/image" Target="../media/image30.jpg"/><Relationship Id="rId2" Type="http://schemas.openxmlformats.org/officeDocument/2006/relationships/image" Target="../media/image27.png"/><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10" Type="http://schemas.openxmlformats.org/officeDocument/2006/relationships/image" Target="../media/image58.jpeg"/><Relationship Id="rId4" Type="http://schemas.openxmlformats.org/officeDocument/2006/relationships/image" Target="../media/image53.png"/><Relationship Id="rId9" Type="http://schemas.openxmlformats.org/officeDocument/2006/relationships/image" Target="../media/image57.png"/></Relationships>
</file>

<file path=ppt/slides/_rels/slide1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4.xml"/><Relationship Id="rId5" Type="http://schemas.openxmlformats.org/officeDocument/2006/relationships/image" Target="../media/image62.png"/><Relationship Id="rId4" Type="http://schemas.openxmlformats.org/officeDocument/2006/relationships/image" Target="../media/image61.png"/></Relationships>
</file>

<file path=ppt/slides/_rels/slide1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4.xml"/><Relationship Id="rId4" Type="http://schemas.openxmlformats.org/officeDocument/2006/relationships/image" Target="../media/image33.jpeg"/></Relationships>
</file>

<file path=ppt/slides/_rels/slide18.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9.jpeg"/><Relationship Id="rId2" Type="http://schemas.openxmlformats.org/officeDocument/2006/relationships/image" Target="../media/image65.png"/><Relationship Id="rId1" Type="http://schemas.openxmlformats.org/officeDocument/2006/relationships/slideLayout" Target="../slideLayouts/slideLayout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30.jpg"/></Relationships>
</file>

<file path=ppt/slides/_rels/slide1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4.xml"/><Relationship Id="rId4" Type="http://schemas.openxmlformats.org/officeDocument/2006/relationships/image" Target="../media/image76.jpeg"/></Relationships>
</file>

<file path=ppt/slides/_rels/slide2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xml"/><Relationship Id="rId4" Type="http://schemas.openxmlformats.org/officeDocument/2006/relationships/image" Target="../media/image79.jpeg"/></Relationships>
</file>

<file path=ppt/slides/_rels/slide2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 Id="rId4" Type="http://schemas.openxmlformats.org/officeDocument/2006/relationships/image" Target="../media/image82.jpeg"/></Relationships>
</file>

<file path=ppt/slides/_rels/slide24.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4.xml"/><Relationship Id="rId4" Type="http://schemas.openxmlformats.org/officeDocument/2006/relationships/image" Target="../media/image4.jpeg"/></Relationships>
</file>

<file path=ppt/slides/_rels/slide26.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4.xml"/><Relationship Id="rId4" Type="http://schemas.openxmlformats.org/officeDocument/2006/relationships/image" Target="../media/image93.jpe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02359" y="-106055"/>
            <a:ext cx="11477623" cy="3432696"/>
            <a:chOff x="0" y="19050"/>
            <a:chExt cx="9953625" cy="3409950"/>
          </a:xfrm>
        </p:grpSpPr>
        <p:pic>
          <p:nvPicPr>
            <p:cNvPr id="3" name="object 3"/>
            <p:cNvPicPr/>
            <p:nvPr/>
          </p:nvPicPr>
          <p:blipFill>
            <a:blip r:embed="rId2" cstate="print"/>
            <a:stretch>
              <a:fillRect/>
            </a:stretch>
          </p:blipFill>
          <p:spPr>
            <a:xfrm>
              <a:off x="0" y="19050"/>
              <a:ext cx="9953624" cy="3152774"/>
            </a:xfrm>
            <a:prstGeom prst="rect">
              <a:avLst/>
            </a:prstGeom>
          </p:spPr>
        </p:pic>
        <p:pic>
          <p:nvPicPr>
            <p:cNvPr id="4" name="object 4"/>
            <p:cNvPicPr/>
            <p:nvPr/>
          </p:nvPicPr>
          <p:blipFill>
            <a:blip r:embed="rId3" cstate="print"/>
            <a:stretch>
              <a:fillRect/>
            </a:stretch>
          </p:blipFill>
          <p:spPr>
            <a:xfrm>
              <a:off x="2619374" y="19050"/>
              <a:ext cx="1828799" cy="3409949"/>
            </a:xfrm>
            <a:prstGeom prst="rect">
              <a:avLst/>
            </a:prstGeom>
          </p:spPr>
        </p:pic>
      </p:grpSp>
      <p:sp>
        <p:nvSpPr>
          <p:cNvPr id="5" name="object 5"/>
          <p:cNvSpPr txBox="1"/>
          <p:nvPr/>
        </p:nvSpPr>
        <p:spPr>
          <a:xfrm>
            <a:off x="1580357" y="3429327"/>
            <a:ext cx="9218277" cy="1223861"/>
          </a:xfrm>
          <a:prstGeom prst="rect">
            <a:avLst/>
          </a:prstGeom>
        </p:spPr>
        <p:txBody>
          <a:bodyPr vert="horz" wrap="square" lIns="0" tIns="8255" rIns="0" bIns="0" rtlCol="0" anchor="t">
            <a:spAutoFit/>
          </a:bodyPr>
          <a:lstStyle/>
          <a:p>
            <a:pPr marL="12700" marR="5080" algn="ctr">
              <a:lnSpc>
                <a:spcPct val="101600"/>
              </a:lnSpc>
              <a:spcBef>
                <a:spcPts val="65"/>
              </a:spcBef>
            </a:pPr>
            <a:r>
              <a:rPr lang="en" sz="4000" b="1" spc="-10" dirty="0">
                <a:solidFill>
                  <a:schemeClr val="tx1">
                    <a:lumMod val="95000"/>
                    <a:lumOff val="5000"/>
                  </a:schemeClr>
                </a:solidFill>
                <a:latin typeface="Arial"/>
                <a:cs typeface="Arial"/>
              </a:rPr>
              <a:t>Project </a:t>
            </a:r>
            <a:r>
              <a:rPr lang="en" sz="4000" b="1" spc="-10">
                <a:solidFill>
                  <a:schemeClr val="tx1">
                    <a:lumMod val="95000"/>
                    <a:lumOff val="5000"/>
                  </a:schemeClr>
                </a:solidFill>
                <a:latin typeface="Arial"/>
                <a:cs typeface="Arial"/>
              </a:rPr>
              <a:t>Title: Employee</a:t>
            </a:r>
            <a:r>
              <a:rPr lang="en" sz="4000" b="1" spc="-10" dirty="0">
                <a:solidFill>
                  <a:schemeClr val="tx1">
                    <a:lumMod val="95000"/>
                    <a:lumOff val="5000"/>
                  </a:schemeClr>
                </a:solidFill>
                <a:latin typeface="Arial"/>
                <a:cs typeface="Arial"/>
              </a:rPr>
              <a:t> Management System</a:t>
            </a:r>
            <a:endParaRPr lang="en-US" sz="4000" b="1">
              <a:solidFill>
                <a:schemeClr val="tx1">
                  <a:lumMod val="95000"/>
                  <a:lumOff val="5000"/>
                </a:schemeClr>
              </a:solidFill>
              <a:latin typeface="Arial"/>
              <a:cs typeface="Arial"/>
            </a:endParaRPr>
          </a:p>
        </p:txBody>
      </p:sp>
      <p:sp>
        <p:nvSpPr>
          <p:cNvPr id="6" name="TextBox 5">
            <a:extLst>
              <a:ext uri="{FF2B5EF4-FFF2-40B4-BE49-F238E27FC236}">
                <a16:creationId xmlns:a16="http://schemas.microsoft.com/office/drawing/2014/main" id="{513E7FD7-C4DC-21EE-A0FB-CDCD371A8725}"/>
              </a:ext>
            </a:extLst>
          </p:cNvPr>
          <p:cNvSpPr txBox="1"/>
          <p:nvPr/>
        </p:nvSpPr>
        <p:spPr>
          <a:xfrm>
            <a:off x="7608626" y="4941627"/>
            <a:ext cx="4162567"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Arial"/>
                <a:cs typeface="Arial"/>
              </a:rPr>
              <a:t>BY: </a:t>
            </a:r>
            <a:endParaRPr lang="en-US" sz="2000" b="1">
              <a:solidFill>
                <a:srgbClr val="000000"/>
              </a:solidFill>
              <a:latin typeface="Arial"/>
              <a:cs typeface="Arial"/>
            </a:endParaRPr>
          </a:p>
          <a:p>
            <a:pPr algn="ctr"/>
            <a:r>
              <a:rPr lang="en-US" sz="2000" b="1" dirty="0">
                <a:latin typeface="Arial"/>
                <a:cs typeface="Arial"/>
              </a:rPr>
              <a:t>Talasila Omprakash</a:t>
            </a:r>
          </a:p>
          <a:p>
            <a:pPr algn="ctr"/>
            <a:r>
              <a:rPr lang="en-US" sz="2000" b="1" dirty="0">
                <a:latin typeface="Arial"/>
                <a:cs typeface="Arial"/>
              </a:rPr>
              <a:t>Batch:422</a:t>
            </a:r>
          </a:p>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group of people looking at computers&#10;&#10;AI-generated content may be incorrect.">
            <a:extLst>
              <a:ext uri="{FF2B5EF4-FFF2-40B4-BE49-F238E27FC236}">
                <a16:creationId xmlns:a16="http://schemas.microsoft.com/office/drawing/2014/main" id="{FAFC54DC-A9BC-BF60-EA06-717F24E77822}"/>
              </a:ext>
            </a:extLst>
          </p:cNvPr>
          <p:cNvPicPr>
            <a:picLocks noChangeAspect="1"/>
          </p:cNvPicPr>
          <p:nvPr/>
        </p:nvPicPr>
        <p:blipFill>
          <a:blip r:embed="rId2"/>
          <a:stretch>
            <a:fillRect/>
          </a:stretch>
        </p:blipFill>
        <p:spPr>
          <a:xfrm>
            <a:off x="6062" y="1012"/>
            <a:ext cx="12191421" cy="6255615"/>
          </a:xfrm>
          <a:prstGeom prst="rect">
            <a:avLst/>
          </a:prstGeom>
        </p:spPr>
      </p:pic>
      <p:pic>
        <p:nvPicPr>
          <p:cNvPr id="9" name="Picture 8">
            <a:extLst>
              <a:ext uri="{FF2B5EF4-FFF2-40B4-BE49-F238E27FC236}">
                <a16:creationId xmlns:a16="http://schemas.microsoft.com/office/drawing/2014/main" id="{AD1C9D74-AC6C-8A1F-AA37-F49B2529BE78}"/>
              </a:ext>
            </a:extLst>
          </p:cNvPr>
          <p:cNvPicPr>
            <a:picLocks noChangeAspect="1"/>
          </p:cNvPicPr>
          <p:nvPr/>
        </p:nvPicPr>
        <p:blipFill>
          <a:blip r:embed="rId3"/>
          <a:stretch>
            <a:fillRect/>
          </a:stretch>
        </p:blipFill>
        <p:spPr>
          <a:xfrm>
            <a:off x="4169929" y="1233778"/>
            <a:ext cx="3852140" cy="6381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1284-85B9-DC0A-AEE5-2728CFB5CF58}"/>
            </a:ext>
          </a:extLst>
        </p:cNvPr>
        <p:cNvGrpSpPr/>
        <p:nvPr/>
      </p:nvGrpSpPr>
      <p:grpSpPr>
        <a:xfrm>
          <a:off x="0" y="0"/>
          <a:ext cx="0" cy="0"/>
          <a:chOff x="0" y="0"/>
          <a:chExt cx="0" cy="0"/>
        </a:xfrm>
      </p:grpSpPr>
      <p:pic>
        <p:nvPicPr>
          <p:cNvPr id="5" name="Picture 4" descr="A screenshot of a computer code&#10;&#10;AI-generated content may be incorrect.">
            <a:extLst>
              <a:ext uri="{FF2B5EF4-FFF2-40B4-BE49-F238E27FC236}">
                <a16:creationId xmlns:a16="http://schemas.microsoft.com/office/drawing/2014/main" id="{232A94F7-4990-D934-B223-F1EBBEB88FAE}"/>
              </a:ext>
            </a:extLst>
          </p:cNvPr>
          <p:cNvPicPr>
            <a:picLocks noChangeAspect="1"/>
          </p:cNvPicPr>
          <p:nvPr/>
        </p:nvPicPr>
        <p:blipFill>
          <a:blip r:embed="rId2"/>
          <a:stretch>
            <a:fillRect/>
          </a:stretch>
        </p:blipFill>
        <p:spPr>
          <a:xfrm>
            <a:off x="553605" y="932728"/>
            <a:ext cx="3603336" cy="2256270"/>
          </a:xfrm>
          <a:prstGeom prst="rect">
            <a:avLst/>
          </a:prstGeom>
        </p:spPr>
      </p:pic>
      <p:pic>
        <p:nvPicPr>
          <p:cNvPr id="6" name="Picture 5" descr="A computer code with blue and orange text&#10;&#10;AI-generated content may be incorrect.">
            <a:extLst>
              <a:ext uri="{FF2B5EF4-FFF2-40B4-BE49-F238E27FC236}">
                <a16:creationId xmlns:a16="http://schemas.microsoft.com/office/drawing/2014/main" id="{D49E3FD4-3596-10FE-BF0F-7E7E0E52AAFC}"/>
              </a:ext>
            </a:extLst>
          </p:cNvPr>
          <p:cNvPicPr>
            <a:picLocks noChangeAspect="1"/>
          </p:cNvPicPr>
          <p:nvPr/>
        </p:nvPicPr>
        <p:blipFill>
          <a:blip r:embed="rId3"/>
          <a:stretch>
            <a:fillRect/>
          </a:stretch>
        </p:blipFill>
        <p:spPr>
          <a:xfrm>
            <a:off x="4284951" y="927678"/>
            <a:ext cx="3610553" cy="2243282"/>
          </a:xfrm>
          <a:prstGeom prst="rect">
            <a:avLst/>
          </a:prstGeom>
        </p:spPr>
      </p:pic>
      <p:pic>
        <p:nvPicPr>
          <p:cNvPr id="7" name="Picture 6" descr="A screenshot of a computer code&#10;&#10;AI-generated content may be incorrect.">
            <a:extLst>
              <a:ext uri="{FF2B5EF4-FFF2-40B4-BE49-F238E27FC236}">
                <a16:creationId xmlns:a16="http://schemas.microsoft.com/office/drawing/2014/main" id="{0473A49F-441A-32FC-2242-68F42F3118D8}"/>
              </a:ext>
            </a:extLst>
          </p:cNvPr>
          <p:cNvPicPr>
            <a:picLocks noChangeAspect="1"/>
          </p:cNvPicPr>
          <p:nvPr/>
        </p:nvPicPr>
        <p:blipFill>
          <a:blip r:embed="rId4"/>
          <a:stretch>
            <a:fillRect/>
          </a:stretch>
        </p:blipFill>
        <p:spPr>
          <a:xfrm>
            <a:off x="7897524" y="928252"/>
            <a:ext cx="4143952" cy="2242130"/>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377263F6-3E7E-2A2D-6682-FB184517AFE0}"/>
              </a:ext>
            </a:extLst>
          </p:cNvPr>
          <p:cNvPicPr>
            <a:picLocks noChangeAspect="1"/>
          </p:cNvPicPr>
          <p:nvPr/>
        </p:nvPicPr>
        <p:blipFill>
          <a:blip r:embed="rId5"/>
          <a:stretch>
            <a:fillRect/>
          </a:stretch>
        </p:blipFill>
        <p:spPr>
          <a:xfrm>
            <a:off x="559089" y="3420628"/>
            <a:ext cx="3730914" cy="2810743"/>
          </a:xfrm>
          <a:prstGeom prst="rect">
            <a:avLst/>
          </a:prstGeom>
        </p:spPr>
      </p:pic>
      <p:pic>
        <p:nvPicPr>
          <p:cNvPr id="9" name="Picture 8" descr="A computer screen shot of a computer code&#10;&#10;AI-generated content may be incorrect.">
            <a:extLst>
              <a:ext uri="{FF2B5EF4-FFF2-40B4-BE49-F238E27FC236}">
                <a16:creationId xmlns:a16="http://schemas.microsoft.com/office/drawing/2014/main" id="{71441045-F092-11A6-C290-14325456B556}"/>
              </a:ext>
            </a:extLst>
          </p:cNvPr>
          <p:cNvPicPr>
            <a:picLocks noChangeAspect="1"/>
          </p:cNvPicPr>
          <p:nvPr/>
        </p:nvPicPr>
        <p:blipFill>
          <a:blip r:embed="rId6"/>
          <a:stretch>
            <a:fillRect/>
          </a:stretch>
        </p:blipFill>
        <p:spPr>
          <a:xfrm>
            <a:off x="4362018" y="3303011"/>
            <a:ext cx="3756601" cy="3045981"/>
          </a:xfrm>
          <a:prstGeom prst="rect">
            <a:avLst/>
          </a:prstGeom>
        </p:spPr>
      </p:pic>
      <p:pic>
        <p:nvPicPr>
          <p:cNvPr id="10" name="Picture 9" descr="A screenshot of a computer code&#10;&#10;AI-generated content may be incorrect.">
            <a:extLst>
              <a:ext uri="{FF2B5EF4-FFF2-40B4-BE49-F238E27FC236}">
                <a16:creationId xmlns:a16="http://schemas.microsoft.com/office/drawing/2014/main" id="{6B74CF07-2655-B426-BDF1-EDA084CCD1A9}"/>
              </a:ext>
            </a:extLst>
          </p:cNvPr>
          <p:cNvPicPr>
            <a:picLocks noChangeAspect="1"/>
          </p:cNvPicPr>
          <p:nvPr/>
        </p:nvPicPr>
        <p:blipFill>
          <a:blip r:embed="rId7"/>
          <a:stretch>
            <a:fillRect/>
          </a:stretch>
        </p:blipFill>
        <p:spPr>
          <a:xfrm>
            <a:off x="8432223" y="3439248"/>
            <a:ext cx="3444008" cy="2796597"/>
          </a:xfrm>
          <a:prstGeom prst="rect">
            <a:avLst/>
          </a:prstGeom>
        </p:spPr>
      </p:pic>
      <p:pic>
        <p:nvPicPr>
          <p:cNvPr id="12" name="object 15" descr="A black and white photo frame&#10;&#10;AI-generated content may be incorrect.">
            <a:extLst>
              <a:ext uri="{FF2B5EF4-FFF2-40B4-BE49-F238E27FC236}">
                <a16:creationId xmlns:a16="http://schemas.microsoft.com/office/drawing/2014/main" id="{8FDA895B-773B-C4A9-86BB-5461830B477D}"/>
              </a:ext>
            </a:extLst>
          </p:cNvPr>
          <p:cNvPicPr/>
          <p:nvPr/>
        </p:nvPicPr>
        <p:blipFill>
          <a:blip r:embed="rId8" cstate="print"/>
          <a:stretch>
            <a:fillRect/>
          </a:stretch>
        </p:blipFill>
        <p:spPr>
          <a:xfrm>
            <a:off x="2934303" y="315268"/>
            <a:ext cx="5490568" cy="609599"/>
          </a:xfrm>
          <a:prstGeom prst="rect">
            <a:avLst/>
          </a:prstGeom>
        </p:spPr>
      </p:pic>
      <p:sp>
        <p:nvSpPr>
          <p:cNvPr id="13" name="TextBox 12">
            <a:extLst>
              <a:ext uri="{FF2B5EF4-FFF2-40B4-BE49-F238E27FC236}">
                <a16:creationId xmlns:a16="http://schemas.microsoft.com/office/drawing/2014/main" id="{404DB57C-ED37-2048-CCC9-F9141F835E2D}"/>
              </a:ext>
            </a:extLst>
          </p:cNvPr>
          <p:cNvSpPr txBox="1"/>
          <p:nvPr/>
        </p:nvSpPr>
        <p:spPr>
          <a:xfrm>
            <a:off x="3590637" y="392546"/>
            <a:ext cx="63499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latin typeface="Arial"/>
                <a:cs typeface="Arial"/>
              </a:rPr>
              <a:t>Queries For Creating Tables</a:t>
            </a:r>
            <a:endParaRPr lang="en-US" sz="2000" b="1">
              <a:solidFill>
                <a:srgbClr val="000000"/>
              </a:solidFill>
              <a:latin typeface="Arial"/>
              <a:cs typeface="Arial"/>
            </a:endParaRPr>
          </a:p>
          <a:p>
            <a:pPr algn="ctr"/>
            <a:endParaRPr lang="en-US" sz="2000" b="1" dirty="0">
              <a:latin typeface="Arial"/>
              <a:cs typeface="Arial"/>
            </a:endParaRPr>
          </a:p>
        </p:txBody>
      </p:sp>
    </p:spTree>
    <p:extLst>
      <p:ext uri="{BB962C8B-B14F-4D97-AF65-F5344CB8AC3E}">
        <p14:creationId xmlns:p14="http://schemas.microsoft.com/office/powerpoint/2010/main" val="3589657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object 15"/>
          <p:cNvPicPr/>
          <p:nvPr/>
        </p:nvPicPr>
        <p:blipFill>
          <a:blip r:embed="rId2" cstate="print"/>
          <a:stretch>
            <a:fillRect/>
          </a:stretch>
        </p:blipFill>
        <p:spPr>
          <a:xfrm>
            <a:off x="1341030" y="823268"/>
            <a:ext cx="3077569" cy="609599"/>
          </a:xfrm>
          <a:prstGeom prst="rect">
            <a:avLst/>
          </a:prstGeom>
        </p:spPr>
      </p:pic>
      <p:pic>
        <p:nvPicPr>
          <p:cNvPr id="16" name="object 16"/>
          <p:cNvPicPr/>
          <p:nvPr/>
        </p:nvPicPr>
        <p:blipFill>
          <a:blip r:embed="rId3" cstate="print"/>
          <a:stretch>
            <a:fillRect/>
          </a:stretch>
        </p:blipFill>
        <p:spPr>
          <a:xfrm>
            <a:off x="7685391" y="688497"/>
            <a:ext cx="2819399" cy="622251"/>
          </a:xfrm>
          <a:prstGeom prst="rect">
            <a:avLst/>
          </a:prstGeom>
        </p:spPr>
      </p:pic>
      <p:sp>
        <p:nvSpPr>
          <p:cNvPr id="18" name="object 18"/>
          <p:cNvSpPr txBox="1"/>
          <p:nvPr/>
        </p:nvSpPr>
        <p:spPr>
          <a:xfrm>
            <a:off x="7902904" y="841820"/>
            <a:ext cx="2391745" cy="323807"/>
          </a:xfrm>
          <a:prstGeom prst="rect">
            <a:avLst/>
          </a:prstGeom>
        </p:spPr>
        <p:txBody>
          <a:bodyPr vert="horz" wrap="square" lIns="0" tIns="15875" rIns="0" bIns="0" rtlCol="0" anchor="t">
            <a:spAutoFit/>
          </a:bodyPr>
          <a:lstStyle/>
          <a:p>
            <a:pPr marL="12700">
              <a:spcBef>
                <a:spcPts val="125"/>
              </a:spcBef>
            </a:pPr>
            <a:r>
              <a:rPr lang="en-US" sz="2000" b="1" spc="-20" dirty="0">
                <a:latin typeface="Arial"/>
                <a:cs typeface="Arial"/>
              </a:rPr>
              <a:t>Salary Bonus Table</a:t>
            </a:r>
            <a:endParaRPr sz="2000" dirty="0">
              <a:latin typeface="Arial"/>
              <a:cs typeface="Arial"/>
            </a:endParaRPr>
          </a:p>
        </p:txBody>
      </p:sp>
      <p:sp>
        <p:nvSpPr>
          <p:cNvPr id="20" name="object 20"/>
          <p:cNvSpPr txBox="1">
            <a:spLocks noGrp="1"/>
          </p:cNvSpPr>
          <p:nvPr>
            <p:ph type="title"/>
          </p:nvPr>
        </p:nvSpPr>
        <p:spPr>
          <a:xfrm>
            <a:off x="1552228" y="935838"/>
            <a:ext cx="2858628" cy="382797"/>
          </a:xfrm>
          <a:prstGeom prst="rect">
            <a:avLst/>
          </a:prstGeom>
        </p:spPr>
        <p:txBody>
          <a:bodyPr vert="horz" wrap="square" lIns="0" tIns="13335" rIns="0" bIns="0" rtlCol="0" anchor="t">
            <a:spAutoFit/>
          </a:bodyPr>
          <a:lstStyle/>
          <a:p>
            <a:pPr marL="12700">
              <a:spcBef>
                <a:spcPts val="105"/>
              </a:spcBef>
            </a:pPr>
            <a:r>
              <a:rPr lang="en-US" sz="2400" spc="-60" dirty="0">
                <a:latin typeface="Calibri"/>
                <a:cs typeface="Calibri"/>
              </a:rPr>
              <a:t>Job Department Table</a:t>
            </a:r>
            <a:endParaRPr lang="en-US" sz="2400" spc="-20" dirty="0" err="1">
              <a:latin typeface="Calibri"/>
              <a:ea typeface="Calibri"/>
              <a:cs typeface="Calibri"/>
            </a:endParaRPr>
          </a:p>
        </p:txBody>
      </p:sp>
      <p:pic>
        <p:nvPicPr>
          <p:cNvPr id="21" name="Picture 20" descr="A screenshot of a computer&#10;&#10;AI-generated content may be incorrect.">
            <a:extLst>
              <a:ext uri="{FF2B5EF4-FFF2-40B4-BE49-F238E27FC236}">
                <a16:creationId xmlns:a16="http://schemas.microsoft.com/office/drawing/2014/main" id="{B5F4D2FE-D76D-E23E-B226-F416A2602EDF}"/>
              </a:ext>
            </a:extLst>
          </p:cNvPr>
          <p:cNvPicPr>
            <a:picLocks noChangeAspect="1"/>
          </p:cNvPicPr>
          <p:nvPr/>
        </p:nvPicPr>
        <p:blipFill>
          <a:blip r:embed="rId4"/>
          <a:stretch>
            <a:fillRect/>
          </a:stretch>
        </p:blipFill>
        <p:spPr>
          <a:xfrm>
            <a:off x="232226" y="1436286"/>
            <a:ext cx="6018236" cy="1904147"/>
          </a:xfrm>
          <a:prstGeom prst="rect">
            <a:avLst/>
          </a:prstGeom>
        </p:spPr>
      </p:pic>
      <p:pic>
        <p:nvPicPr>
          <p:cNvPr id="22" name="Picture 21" descr="A screenshot of a computer&#10;&#10;AI-generated content may be incorrect.">
            <a:extLst>
              <a:ext uri="{FF2B5EF4-FFF2-40B4-BE49-F238E27FC236}">
                <a16:creationId xmlns:a16="http://schemas.microsoft.com/office/drawing/2014/main" id="{358A19D0-C1D1-04A8-70BD-2B286C891D9C}"/>
              </a:ext>
            </a:extLst>
          </p:cNvPr>
          <p:cNvPicPr>
            <a:picLocks noChangeAspect="1"/>
          </p:cNvPicPr>
          <p:nvPr/>
        </p:nvPicPr>
        <p:blipFill>
          <a:blip r:embed="rId5"/>
          <a:stretch>
            <a:fillRect/>
          </a:stretch>
        </p:blipFill>
        <p:spPr>
          <a:xfrm>
            <a:off x="6462608" y="1341394"/>
            <a:ext cx="4765861" cy="1824317"/>
          </a:xfrm>
          <a:prstGeom prst="rect">
            <a:avLst/>
          </a:prstGeom>
        </p:spPr>
      </p:pic>
      <p:pic>
        <p:nvPicPr>
          <p:cNvPr id="23" name="Picture 22" descr="A screenshot of a computer&#10;&#10;AI-generated content may be incorrect.">
            <a:extLst>
              <a:ext uri="{FF2B5EF4-FFF2-40B4-BE49-F238E27FC236}">
                <a16:creationId xmlns:a16="http://schemas.microsoft.com/office/drawing/2014/main" id="{43033D56-AB48-2497-A4AE-28EA5E71D110}"/>
              </a:ext>
            </a:extLst>
          </p:cNvPr>
          <p:cNvPicPr>
            <a:picLocks noChangeAspect="1"/>
          </p:cNvPicPr>
          <p:nvPr/>
        </p:nvPicPr>
        <p:blipFill>
          <a:blip r:embed="rId6"/>
          <a:stretch>
            <a:fillRect/>
          </a:stretch>
        </p:blipFill>
        <p:spPr>
          <a:xfrm>
            <a:off x="3281392" y="4120885"/>
            <a:ext cx="5986466" cy="1908919"/>
          </a:xfrm>
          <a:prstGeom prst="rect">
            <a:avLst/>
          </a:prstGeom>
        </p:spPr>
      </p:pic>
      <p:pic>
        <p:nvPicPr>
          <p:cNvPr id="25" name="object 16">
            <a:extLst>
              <a:ext uri="{FF2B5EF4-FFF2-40B4-BE49-F238E27FC236}">
                <a16:creationId xmlns:a16="http://schemas.microsoft.com/office/drawing/2014/main" id="{8C59412F-80D0-8573-9B2B-27BE539B0044}"/>
              </a:ext>
            </a:extLst>
          </p:cNvPr>
          <p:cNvPicPr/>
          <p:nvPr/>
        </p:nvPicPr>
        <p:blipFill>
          <a:blip r:embed="rId3" cstate="print"/>
          <a:stretch>
            <a:fillRect/>
          </a:stretch>
        </p:blipFill>
        <p:spPr>
          <a:xfrm>
            <a:off x="4930918" y="3461366"/>
            <a:ext cx="3149219" cy="656370"/>
          </a:xfrm>
          <a:prstGeom prst="rect">
            <a:avLst/>
          </a:prstGeom>
        </p:spPr>
      </p:pic>
      <p:sp>
        <p:nvSpPr>
          <p:cNvPr id="3" name="object 18">
            <a:extLst>
              <a:ext uri="{FF2B5EF4-FFF2-40B4-BE49-F238E27FC236}">
                <a16:creationId xmlns:a16="http://schemas.microsoft.com/office/drawing/2014/main" id="{EE8AB74D-FE12-ED25-8B33-DDCF052942D7}"/>
              </a:ext>
            </a:extLst>
          </p:cNvPr>
          <p:cNvSpPr txBox="1"/>
          <p:nvPr/>
        </p:nvSpPr>
        <p:spPr>
          <a:xfrm>
            <a:off x="5514546" y="3628237"/>
            <a:ext cx="2391745" cy="323807"/>
          </a:xfrm>
          <a:prstGeom prst="rect">
            <a:avLst/>
          </a:prstGeom>
        </p:spPr>
        <p:txBody>
          <a:bodyPr vert="horz" wrap="square" lIns="0" tIns="15875" rIns="0" bIns="0" rtlCol="0" anchor="t">
            <a:spAutoFit/>
          </a:bodyPr>
          <a:lstStyle/>
          <a:p>
            <a:pPr marL="12700">
              <a:spcBef>
                <a:spcPts val="125"/>
              </a:spcBef>
            </a:pPr>
            <a:r>
              <a:rPr lang="en-US" sz="2000" b="1" spc="-20" dirty="0">
                <a:latin typeface="Arial"/>
                <a:cs typeface="Arial"/>
              </a:rPr>
              <a:t>Employee Table</a:t>
            </a:r>
            <a:endParaRPr sz="2000" dirty="0" err="1">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object 11"/>
          <p:cNvPicPr/>
          <p:nvPr/>
        </p:nvPicPr>
        <p:blipFill>
          <a:blip r:embed="rId2" cstate="print"/>
          <a:stretch>
            <a:fillRect/>
          </a:stretch>
        </p:blipFill>
        <p:spPr>
          <a:xfrm>
            <a:off x="1233554" y="916426"/>
            <a:ext cx="3357842" cy="675716"/>
          </a:xfrm>
          <a:prstGeom prst="rect">
            <a:avLst/>
          </a:prstGeom>
        </p:spPr>
      </p:pic>
      <p:pic>
        <p:nvPicPr>
          <p:cNvPr id="12" name="object 12"/>
          <p:cNvPicPr/>
          <p:nvPr/>
        </p:nvPicPr>
        <p:blipFill>
          <a:blip r:embed="rId3" cstate="print"/>
          <a:stretch>
            <a:fillRect/>
          </a:stretch>
        </p:blipFill>
        <p:spPr>
          <a:xfrm>
            <a:off x="4595879" y="3919604"/>
            <a:ext cx="3600449" cy="476249"/>
          </a:xfrm>
          <a:prstGeom prst="rect">
            <a:avLst/>
          </a:prstGeom>
        </p:spPr>
      </p:pic>
      <p:pic>
        <p:nvPicPr>
          <p:cNvPr id="13" name="object 13"/>
          <p:cNvPicPr/>
          <p:nvPr/>
        </p:nvPicPr>
        <p:blipFill>
          <a:blip r:embed="rId4" cstate="print"/>
          <a:stretch>
            <a:fillRect/>
          </a:stretch>
        </p:blipFill>
        <p:spPr>
          <a:xfrm>
            <a:off x="7909459" y="937158"/>
            <a:ext cx="3060885" cy="553010"/>
          </a:xfrm>
          <a:prstGeom prst="rect">
            <a:avLst/>
          </a:prstGeom>
        </p:spPr>
      </p:pic>
      <p:sp>
        <p:nvSpPr>
          <p:cNvPr id="14" name="object 14"/>
          <p:cNvSpPr txBox="1"/>
          <p:nvPr/>
        </p:nvSpPr>
        <p:spPr>
          <a:xfrm>
            <a:off x="5038697" y="3951125"/>
            <a:ext cx="3514090" cy="385362"/>
          </a:xfrm>
          <a:prstGeom prst="rect">
            <a:avLst/>
          </a:prstGeom>
        </p:spPr>
        <p:txBody>
          <a:bodyPr vert="horz" wrap="square" lIns="0" tIns="15875" rIns="0" bIns="0" rtlCol="0" anchor="t">
            <a:spAutoFit/>
          </a:bodyPr>
          <a:lstStyle/>
          <a:p>
            <a:pPr marL="12700">
              <a:spcBef>
                <a:spcPts val="125"/>
              </a:spcBef>
            </a:pPr>
            <a:r>
              <a:rPr lang="en-US" sz="2400" b="1" spc="60" dirty="0">
                <a:latin typeface="Arial"/>
                <a:cs typeface="Arial"/>
              </a:rPr>
              <a:t>Payroll </a:t>
            </a:r>
            <a:r>
              <a:rPr lang="en-US" sz="2000" b="1" spc="-10" dirty="0">
                <a:latin typeface="Arial"/>
                <a:cs typeface="Arial"/>
              </a:rPr>
              <a:t>TABEL</a:t>
            </a:r>
            <a:endParaRPr sz="2000" dirty="0">
              <a:latin typeface="Arial"/>
              <a:cs typeface="Arial"/>
            </a:endParaRPr>
          </a:p>
        </p:txBody>
      </p:sp>
      <p:sp>
        <p:nvSpPr>
          <p:cNvPr id="15" name="object 15"/>
          <p:cNvSpPr txBox="1"/>
          <p:nvPr/>
        </p:nvSpPr>
        <p:spPr>
          <a:xfrm>
            <a:off x="8173487" y="988301"/>
            <a:ext cx="2840541" cy="385362"/>
          </a:xfrm>
          <a:prstGeom prst="rect">
            <a:avLst/>
          </a:prstGeom>
        </p:spPr>
        <p:txBody>
          <a:bodyPr vert="horz" wrap="square" lIns="0" tIns="15875" rIns="0" bIns="0" rtlCol="0" anchor="t">
            <a:spAutoFit/>
          </a:bodyPr>
          <a:lstStyle/>
          <a:p>
            <a:pPr marL="12700">
              <a:spcBef>
                <a:spcPts val="125"/>
              </a:spcBef>
            </a:pPr>
            <a:r>
              <a:rPr lang="en-US" sz="2000" b="1" spc="-10" dirty="0">
                <a:latin typeface="Arial"/>
                <a:cs typeface="Arial"/>
              </a:rPr>
              <a:t> </a:t>
            </a:r>
            <a:r>
              <a:rPr lang="en-US" sz="2400" b="1" spc="-10" dirty="0">
                <a:latin typeface="Arial"/>
                <a:cs typeface="Arial"/>
              </a:rPr>
              <a:t>Leaves TABEL</a:t>
            </a:r>
            <a:endParaRPr sz="2400" err="1">
              <a:latin typeface="Arial"/>
              <a:cs typeface="Arial"/>
            </a:endParaRPr>
          </a:p>
        </p:txBody>
      </p:sp>
      <p:pic>
        <p:nvPicPr>
          <p:cNvPr id="18" name="Picture 17" descr="A screenshot of a computer&#10;&#10;AI-generated content may be incorrect.">
            <a:extLst>
              <a:ext uri="{FF2B5EF4-FFF2-40B4-BE49-F238E27FC236}">
                <a16:creationId xmlns:a16="http://schemas.microsoft.com/office/drawing/2014/main" id="{F171EA0F-984E-E7F2-72C8-AC6E6487622A}"/>
              </a:ext>
            </a:extLst>
          </p:cNvPr>
          <p:cNvPicPr>
            <a:picLocks noChangeAspect="1"/>
          </p:cNvPicPr>
          <p:nvPr/>
        </p:nvPicPr>
        <p:blipFill>
          <a:blip r:embed="rId5"/>
          <a:stretch>
            <a:fillRect/>
          </a:stretch>
        </p:blipFill>
        <p:spPr>
          <a:xfrm>
            <a:off x="147637" y="1711698"/>
            <a:ext cx="6148107" cy="1888190"/>
          </a:xfrm>
          <a:prstGeom prst="rect">
            <a:avLst/>
          </a:prstGeom>
        </p:spPr>
      </p:pic>
      <p:sp>
        <p:nvSpPr>
          <p:cNvPr id="17" name="object 18">
            <a:extLst>
              <a:ext uri="{FF2B5EF4-FFF2-40B4-BE49-F238E27FC236}">
                <a16:creationId xmlns:a16="http://schemas.microsoft.com/office/drawing/2014/main" id="{953AF9A6-BA33-285D-63B6-133508CB937F}"/>
              </a:ext>
            </a:extLst>
          </p:cNvPr>
          <p:cNvSpPr txBox="1"/>
          <p:nvPr/>
        </p:nvSpPr>
        <p:spPr>
          <a:xfrm>
            <a:off x="1503008" y="1109090"/>
            <a:ext cx="2739127" cy="385362"/>
          </a:xfrm>
          <a:prstGeom prst="rect">
            <a:avLst/>
          </a:prstGeom>
        </p:spPr>
        <p:txBody>
          <a:bodyPr vert="horz" wrap="square" lIns="0" tIns="15875" rIns="0" bIns="0" rtlCol="0" anchor="t">
            <a:spAutoFit/>
          </a:bodyPr>
          <a:lstStyle/>
          <a:p>
            <a:pPr marL="12700">
              <a:spcBef>
                <a:spcPts val="125"/>
              </a:spcBef>
            </a:pPr>
            <a:r>
              <a:rPr lang="en-US" sz="2400" b="1" spc="-20" dirty="0">
                <a:latin typeface="Arial"/>
                <a:cs typeface="Arial"/>
              </a:rPr>
              <a:t>Qualification Table</a:t>
            </a:r>
            <a:endParaRPr sz="2400" dirty="0">
              <a:latin typeface="Arial"/>
              <a:cs typeface="Arial"/>
            </a:endParaRPr>
          </a:p>
        </p:txBody>
      </p:sp>
      <p:pic>
        <p:nvPicPr>
          <p:cNvPr id="19" name="Picture 18" descr="A screenshot of a computer&#10;&#10;AI-generated content may be incorrect.">
            <a:extLst>
              <a:ext uri="{FF2B5EF4-FFF2-40B4-BE49-F238E27FC236}">
                <a16:creationId xmlns:a16="http://schemas.microsoft.com/office/drawing/2014/main" id="{CB0FC6BE-D6F7-5764-7C70-8553F96461A0}"/>
              </a:ext>
            </a:extLst>
          </p:cNvPr>
          <p:cNvPicPr>
            <a:picLocks noChangeAspect="1"/>
          </p:cNvPicPr>
          <p:nvPr/>
        </p:nvPicPr>
        <p:blipFill>
          <a:blip r:embed="rId6"/>
          <a:stretch>
            <a:fillRect/>
          </a:stretch>
        </p:blipFill>
        <p:spPr>
          <a:xfrm>
            <a:off x="6918026" y="1586806"/>
            <a:ext cx="4797005" cy="2008370"/>
          </a:xfrm>
          <a:prstGeom prst="rect">
            <a:avLst/>
          </a:prstGeom>
        </p:spPr>
      </p:pic>
      <p:pic>
        <p:nvPicPr>
          <p:cNvPr id="20" name="Picture 19" descr="A screenshot of a computer&#10;&#10;AI-generated content may be incorrect.">
            <a:extLst>
              <a:ext uri="{FF2B5EF4-FFF2-40B4-BE49-F238E27FC236}">
                <a16:creationId xmlns:a16="http://schemas.microsoft.com/office/drawing/2014/main" id="{FAC17BB5-95ED-2610-3502-3FDE9FA2CA61}"/>
              </a:ext>
            </a:extLst>
          </p:cNvPr>
          <p:cNvPicPr>
            <a:picLocks noChangeAspect="1"/>
          </p:cNvPicPr>
          <p:nvPr/>
        </p:nvPicPr>
        <p:blipFill>
          <a:blip r:embed="rId7"/>
          <a:stretch>
            <a:fillRect/>
          </a:stretch>
        </p:blipFill>
        <p:spPr>
          <a:xfrm>
            <a:off x="3192942" y="4387251"/>
            <a:ext cx="6467475" cy="160468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idx="4294967295"/>
          </p:nvPr>
        </p:nvSpPr>
        <p:spPr>
          <a:xfrm>
            <a:off x="0" y="188913"/>
            <a:ext cx="10431463" cy="2592387"/>
          </a:xfrm>
          <a:prstGeom prst="rect">
            <a:avLst/>
          </a:prstGeom>
        </p:spPr>
        <p:txBody>
          <a:bodyPr vert="horz" wrap="square" lIns="0" tIns="13335" rIns="0" bIns="0" rtlCol="0">
            <a:spAutoFit/>
          </a:bodyPr>
          <a:lstStyle/>
          <a:p>
            <a:pPr marL="205104">
              <a:lnSpc>
                <a:spcPct val="100000"/>
              </a:lnSpc>
              <a:spcBef>
                <a:spcPts val="105"/>
              </a:spcBef>
            </a:pPr>
            <a:r>
              <a:rPr sz="4800" b="0" dirty="0">
                <a:latin typeface="Times New Roman"/>
                <a:cs typeface="Times New Roman"/>
              </a:rPr>
              <a:t>ER</a:t>
            </a:r>
            <a:r>
              <a:rPr sz="4800" b="0" spc="-35" dirty="0">
                <a:latin typeface="Times New Roman"/>
                <a:cs typeface="Times New Roman"/>
              </a:rPr>
              <a:t> </a:t>
            </a:r>
            <a:r>
              <a:rPr sz="4800" b="0" spc="-10" dirty="0">
                <a:latin typeface="Times New Roman"/>
                <a:cs typeface="Times New Roman"/>
              </a:rPr>
              <a:t>Diagram:</a:t>
            </a:r>
            <a:endParaRPr sz="4800">
              <a:latin typeface="Times New Roman"/>
              <a:cs typeface="Times New Roman"/>
            </a:endParaRPr>
          </a:p>
        </p:txBody>
      </p:sp>
      <p:pic>
        <p:nvPicPr>
          <p:cNvPr id="6" name="Picture 5" descr="A screenshot of a computer&#10;&#10;AI-generated content may be incorrect.">
            <a:extLst>
              <a:ext uri="{FF2B5EF4-FFF2-40B4-BE49-F238E27FC236}">
                <a16:creationId xmlns:a16="http://schemas.microsoft.com/office/drawing/2014/main" id="{896A2CF2-C16C-4EA1-96CE-FEA76C1459C5}"/>
              </a:ext>
            </a:extLst>
          </p:cNvPr>
          <p:cNvPicPr>
            <a:picLocks noChangeAspect="1"/>
          </p:cNvPicPr>
          <p:nvPr/>
        </p:nvPicPr>
        <p:blipFill>
          <a:blip r:embed="rId2"/>
          <a:stretch>
            <a:fillRect/>
          </a:stretch>
        </p:blipFill>
        <p:spPr>
          <a:xfrm>
            <a:off x="235525" y="900545"/>
            <a:ext cx="11466949" cy="3821546"/>
          </a:xfrm>
          <a:prstGeom prst="rect">
            <a:avLst/>
          </a:prstGeom>
        </p:spPr>
      </p:pic>
      <p:sp>
        <p:nvSpPr>
          <p:cNvPr id="3" name="TextBox 2">
            <a:extLst>
              <a:ext uri="{FF2B5EF4-FFF2-40B4-BE49-F238E27FC236}">
                <a16:creationId xmlns:a16="http://schemas.microsoft.com/office/drawing/2014/main" id="{F2D6F950-8EC9-5076-5B9F-DB5230A22668}"/>
              </a:ext>
            </a:extLst>
          </p:cNvPr>
          <p:cNvSpPr txBox="1"/>
          <p:nvPr/>
        </p:nvSpPr>
        <p:spPr>
          <a:xfrm>
            <a:off x="1050637" y="4733636"/>
            <a:ext cx="853209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Font typeface=""/>
              <a:buChar char="•"/>
            </a:pPr>
            <a:r>
              <a:rPr lang="en-US" dirty="0">
                <a:latin typeface="Arial"/>
                <a:cs typeface="Arial"/>
              </a:rPr>
              <a:t>6 Tables: </a:t>
            </a:r>
            <a:r>
              <a:rPr lang="en-US" b="1" dirty="0">
                <a:latin typeface="Arial"/>
                <a:cs typeface="Arial"/>
              </a:rPr>
              <a:t>Employee, </a:t>
            </a:r>
            <a:r>
              <a:rPr lang="en-US" b="1" err="1">
                <a:latin typeface="Arial"/>
                <a:cs typeface="Arial"/>
              </a:rPr>
              <a:t>JobDepartment</a:t>
            </a:r>
            <a:r>
              <a:rPr lang="en-US" b="1" dirty="0">
                <a:latin typeface="Arial"/>
                <a:cs typeface="Arial"/>
              </a:rPr>
              <a:t>, </a:t>
            </a:r>
            <a:r>
              <a:rPr lang="en-US" b="1" err="1">
                <a:latin typeface="Arial"/>
                <a:cs typeface="Arial"/>
              </a:rPr>
              <a:t>SalaryBonus</a:t>
            </a:r>
            <a:r>
              <a:rPr lang="en-US" b="1" dirty="0">
                <a:latin typeface="Arial"/>
                <a:cs typeface="Arial"/>
              </a:rPr>
              <a:t>, Leaves, Qualification, Payroll</a:t>
            </a:r>
            <a:endParaRPr lang="en-US" b="1" dirty="0">
              <a:solidFill>
                <a:srgbClr val="000000"/>
              </a:solidFill>
              <a:latin typeface="Arial"/>
              <a:cs typeface="Arial"/>
            </a:endParaRPr>
          </a:p>
          <a:p>
            <a:pPr marL="228600" indent="-228600">
              <a:buFont typeface=""/>
              <a:buChar char="•"/>
            </a:pPr>
            <a:r>
              <a:rPr lang="en-US" dirty="0">
                <a:latin typeface="Arial"/>
                <a:cs typeface="Arial"/>
              </a:rPr>
              <a:t>All </a:t>
            </a:r>
            <a:r>
              <a:rPr lang="en-US" b="1" dirty="0">
                <a:latin typeface="Arial"/>
                <a:cs typeface="Arial"/>
              </a:rPr>
              <a:t>Primary Key – Foreign Key</a:t>
            </a:r>
            <a:r>
              <a:rPr lang="en-US" dirty="0">
                <a:latin typeface="Arial"/>
                <a:cs typeface="Arial"/>
              </a:rPr>
              <a:t> relationships are properly validated</a:t>
            </a:r>
          </a:p>
          <a:p>
            <a:pPr marL="228600" indent="-228600">
              <a:buFont typeface=""/>
              <a:buChar char="•"/>
            </a:pPr>
            <a:r>
              <a:rPr lang="en-US" dirty="0">
                <a:latin typeface="Arial"/>
                <a:cs typeface="Arial"/>
              </a:rPr>
              <a:t>Follows a </a:t>
            </a:r>
            <a:r>
              <a:rPr lang="en-US" b="1" dirty="0">
                <a:latin typeface="Arial"/>
                <a:cs typeface="Arial"/>
              </a:rPr>
              <a:t>1-to-many relational structure</a:t>
            </a:r>
            <a:r>
              <a:rPr lang="en-US" dirty="0">
                <a:latin typeface="Arial"/>
                <a:cs typeface="Arial"/>
              </a:rPr>
              <a:t> across all modules</a:t>
            </a:r>
          </a:p>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2991230"/>
            <a:ext cx="314325" cy="419100"/>
            <a:chOff x="0" y="2991230"/>
            <a:chExt cx="314325" cy="419100"/>
          </a:xfrm>
        </p:grpSpPr>
        <p:pic>
          <p:nvPicPr>
            <p:cNvPr id="3" name="object 3"/>
            <p:cNvPicPr/>
            <p:nvPr/>
          </p:nvPicPr>
          <p:blipFill>
            <a:blip r:embed="rId2" cstate="print"/>
            <a:stretch>
              <a:fillRect/>
            </a:stretch>
          </p:blipFill>
          <p:spPr>
            <a:xfrm>
              <a:off x="66675" y="3057524"/>
              <a:ext cx="161924" cy="133349"/>
            </a:xfrm>
            <a:prstGeom prst="rect">
              <a:avLst/>
            </a:prstGeom>
          </p:spPr>
        </p:pic>
        <p:pic>
          <p:nvPicPr>
            <p:cNvPr id="4" name="object 4"/>
            <p:cNvPicPr/>
            <p:nvPr/>
          </p:nvPicPr>
          <p:blipFill>
            <a:blip r:embed="rId3" cstate="print"/>
            <a:stretch>
              <a:fillRect/>
            </a:stretch>
          </p:blipFill>
          <p:spPr>
            <a:xfrm>
              <a:off x="0" y="2991230"/>
              <a:ext cx="314324" cy="419099"/>
            </a:xfrm>
            <a:prstGeom prst="rect">
              <a:avLst/>
            </a:prstGeom>
          </p:spPr>
        </p:pic>
      </p:grpSp>
      <p:pic>
        <p:nvPicPr>
          <p:cNvPr id="5" name="object 5"/>
          <p:cNvPicPr/>
          <p:nvPr/>
        </p:nvPicPr>
        <p:blipFill>
          <a:blip r:embed="rId4" cstate="print"/>
          <a:stretch>
            <a:fillRect/>
          </a:stretch>
        </p:blipFill>
        <p:spPr>
          <a:xfrm>
            <a:off x="3495675" y="3152775"/>
            <a:ext cx="942974" cy="85724"/>
          </a:xfrm>
          <a:prstGeom prst="rect">
            <a:avLst/>
          </a:prstGeom>
        </p:spPr>
      </p:pic>
      <p:sp>
        <p:nvSpPr>
          <p:cNvPr id="7" name="object 7"/>
          <p:cNvSpPr txBox="1">
            <a:spLocks noGrp="1"/>
          </p:cNvSpPr>
          <p:nvPr>
            <p:ph type="title"/>
          </p:nvPr>
        </p:nvSpPr>
        <p:spPr>
          <a:xfrm>
            <a:off x="783904" y="785107"/>
            <a:ext cx="3898900" cy="518159"/>
          </a:xfrm>
          <a:prstGeom prst="rect">
            <a:avLst/>
          </a:prstGeom>
        </p:spPr>
        <p:txBody>
          <a:bodyPr vert="horz" wrap="square" lIns="0" tIns="16510" rIns="0" bIns="0" rtlCol="0">
            <a:spAutoFit/>
          </a:bodyPr>
          <a:lstStyle/>
          <a:p>
            <a:pPr marL="12700">
              <a:lnSpc>
                <a:spcPct val="100000"/>
              </a:lnSpc>
              <a:spcBef>
                <a:spcPts val="130"/>
              </a:spcBef>
            </a:pPr>
            <a:r>
              <a:rPr sz="3200" dirty="0">
                <a:latin typeface="Arial"/>
                <a:cs typeface="Arial"/>
              </a:rPr>
              <a:t>Problem</a:t>
            </a:r>
            <a:r>
              <a:rPr sz="3200" spc="40" dirty="0">
                <a:latin typeface="Arial"/>
                <a:cs typeface="Arial"/>
              </a:rPr>
              <a:t> </a:t>
            </a:r>
            <a:r>
              <a:rPr sz="3200" spc="-10" dirty="0">
                <a:latin typeface="Arial"/>
                <a:cs typeface="Arial"/>
              </a:rPr>
              <a:t>Statement:</a:t>
            </a:r>
            <a:endParaRPr sz="3200">
              <a:latin typeface="Arial"/>
              <a:cs typeface="Arial"/>
            </a:endParaRPr>
          </a:p>
        </p:txBody>
      </p:sp>
      <p:sp>
        <p:nvSpPr>
          <p:cNvPr id="8" name="object 8"/>
          <p:cNvSpPr txBox="1"/>
          <p:nvPr/>
        </p:nvSpPr>
        <p:spPr>
          <a:xfrm>
            <a:off x="652462" y="1331859"/>
            <a:ext cx="11032939" cy="4360424"/>
          </a:xfrm>
          <a:prstGeom prst="rect">
            <a:avLst/>
          </a:prstGeom>
        </p:spPr>
        <p:txBody>
          <a:bodyPr vert="horz" wrap="square" lIns="0" tIns="12700" rIns="0" bIns="0" rtlCol="0" anchor="ctr">
            <a:spAutoFit/>
          </a:bodyPr>
          <a:lstStyle/>
          <a:p>
            <a:pPr algn="just">
              <a:lnSpc>
                <a:spcPct val="200000"/>
              </a:lnSpc>
            </a:pPr>
            <a:r>
              <a:rPr lang="en-US" spc="-10" dirty="0">
                <a:latin typeface="Times New Roman"/>
                <a:cs typeface="Arial"/>
              </a:rPr>
              <a:t>The objective of this project is to design and implement an </a:t>
            </a:r>
            <a:r>
              <a:rPr lang="en-US" b="1" spc="-10" dirty="0">
                <a:latin typeface="Times New Roman"/>
                <a:cs typeface="Arial"/>
              </a:rPr>
              <a:t>Employee Management System</a:t>
            </a:r>
            <a:r>
              <a:rPr lang="en-US" spc="-10" dirty="0">
                <a:latin typeface="Times New Roman"/>
                <a:cs typeface="Arial"/>
              </a:rPr>
              <a:t> that efficiently stores and manages employee-related data within an organization. The system needs to track various aspects of employee information, including personal details, job roles, salary structures, qualifications, leave records, and payroll data. The system should ensure the integrity and consistency of data by using relational tables with appropriate foreign keys and cascading actions.</a:t>
            </a:r>
            <a:endParaRPr lang="en-US" spc="-10">
              <a:solidFill>
                <a:srgbClr val="000000"/>
              </a:solidFill>
              <a:latin typeface="Times New Roman"/>
              <a:cs typeface="Arial"/>
            </a:endParaRPr>
          </a:p>
          <a:p>
            <a:pPr algn="just">
              <a:lnSpc>
                <a:spcPct val="200000"/>
              </a:lnSpc>
            </a:pPr>
            <a:r>
              <a:rPr lang="en" spc="-10" dirty="0">
                <a:latin typeface="Times New Roman"/>
                <a:cs typeface="Arial"/>
              </a:rPr>
              <a:t>The system should allow for easy management and querying of employee data, providing insights such as payroll calculation, leave tracking, and department-specific job roles. The goal is to streamline HR operations, ensuring that all relevant employee data is accessible and accurately updated across different modules.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0" y="0"/>
            <a:ext cx="12191999" cy="6857999"/>
            <a:chOff x="0" y="0"/>
            <a:chExt cx="12191999" cy="6857999"/>
          </a:xfrm>
        </p:grpSpPr>
        <p:pic>
          <p:nvPicPr>
            <p:cNvPr id="3" name="object 3"/>
            <p:cNvPicPr/>
            <p:nvPr/>
          </p:nvPicPr>
          <p:blipFill>
            <a:blip r:embed="rId2" cstate="print"/>
            <a:stretch>
              <a:fillRect/>
            </a:stretch>
          </p:blipFill>
          <p:spPr>
            <a:xfrm>
              <a:off x="0" y="0"/>
              <a:ext cx="12191999" cy="6857999"/>
            </a:xfrm>
            <a:prstGeom prst="rect">
              <a:avLst/>
            </a:prstGeom>
          </p:spPr>
        </p:pic>
        <p:pic>
          <p:nvPicPr>
            <p:cNvPr id="4" name="object 4"/>
            <p:cNvPicPr/>
            <p:nvPr/>
          </p:nvPicPr>
          <p:blipFill>
            <a:blip r:embed="rId3" cstate="print"/>
            <a:stretch>
              <a:fillRect/>
            </a:stretch>
          </p:blipFill>
          <p:spPr>
            <a:xfrm>
              <a:off x="8963025" y="6286500"/>
              <a:ext cx="2933699" cy="447674"/>
            </a:xfrm>
            <a:prstGeom prst="rect">
              <a:avLst/>
            </a:prstGeom>
          </p:spPr>
        </p:pic>
        <p:pic>
          <p:nvPicPr>
            <p:cNvPr id="5" name="object 5"/>
            <p:cNvPicPr/>
            <p:nvPr/>
          </p:nvPicPr>
          <p:blipFill>
            <a:blip r:embed="rId4" cstate="print"/>
            <a:stretch>
              <a:fillRect/>
            </a:stretch>
          </p:blipFill>
          <p:spPr>
            <a:xfrm>
              <a:off x="0" y="0"/>
              <a:ext cx="11915774" cy="4943474"/>
            </a:xfrm>
            <a:prstGeom prst="rect">
              <a:avLst/>
            </a:prstGeom>
          </p:spPr>
        </p:pic>
        <p:pic>
          <p:nvPicPr>
            <p:cNvPr id="6" name="object 6"/>
            <p:cNvPicPr/>
            <p:nvPr/>
          </p:nvPicPr>
          <p:blipFill>
            <a:blip r:embed="rId5" cstate="print"/>
            <a:stretch>
              <a:fillRect/>
            </a:stretch>
          </p:blipFill>
          <p:spPr>
            <a:xfrm>
              <a:off x="0" y="0"/>
              <a:ext cx="12191999" cy="4657724"/>
            </a:xfrm>
            <a:prstGeom prst="rect">
              <a:avLst/>
            </a:prstGeom>
          </p:spPr>
        </p:pic>
        <p:pic>
          <p:nvPicPr>
            <p:cNvPr id="10" name="object 10"/>
            <p:cNvPicPr/>
            <p:nvPr/>
          </p:nvPicPr>
          <p:blipFill>
            <a:blip r:embed="rId6" cstate="print"/>
            <a:stretch>
              <a:fillRect/>
            </a:stretch>
          </p:blipFill>
          <p:spPr>
            <a:xfrm>
              <a:off x="8886825" y="6172200"/>
              <a:ext cx="3305174" cy="685799"/>
            </a:xfrm>
            <a:prstGeom prst="rect">
              <a:avLst/>
            </a:prstGeom>
          </p:spPr>
        </p:pic>
      </p:grpSp>
      <p:sp>
        <p:nvSpPr>
          <p:cNvPr id="11" name="object 11"/>
          <p:cNvSpPr txBox="1">
            <a:spLocks noGrp="1"/>
          </p:cNvSpPr>
          <p:nvPr>
            <p:ph type="title"/>
          </p:nvPr>
        </p:nvSpPr>
        <p:spPr>
          <a:xfrm>
            <a:off x="376873" y="613626"/>
            <a:ext cx="6517227" cy="6635086"/>
          </a:xfrm>
          <a:prstGeom prst="rect">
            <a:avLst/>
          </a:prstGeom>
        </p:spPr>
        <p:txBody>
          <a:bodyPr vert="horz" wrap="square" lIns="0" tIns="39370" rIns="0" bIns="0" rtlCol="0" anchor="t">
            <a:spAutoFit/>
          </a:bodyPr>
          <a:lstStyle/>
          <a:p>
            <a:pPr algn="l">
              <a:lnSpc>
                <a:spcPct val="200000"/>
              </a:lnSpc>
              <a:tabLst>
                <a:tab pos="1751330" algn="l"/>
              </a:tabLst>
            </a:pPr>
            <a:r>
              <a:rPr lang="en" spc="-10" dirty="0">
                <a:latin typeface="Arial"/>
                <a:cs typeface="Arial"/>
              </a:rPr>
              <a:t>Analysis Questions</a:t>
            </a:r>
            <a:endParaRPr lang="en-US" b="0" spc="-10">
              <a:latin typeface="Arial"/>
              <a:cs typeface="Arial"/>
            </a:endParaRPr>
          </a:p>
          <a:p>
            <a:pPr algn="l">
              <a:lnSpc>
                <a:spcPct val="200000"/>
              </a:lnSpc>
              <a:tabLst>
                <a:tab pos="1751330" algn="l"/>
              </a:tabLst>
            </a:pPr>
            <a:r>
              <a:rPr lang="en" spc="-10" dirty="0">
                <a:latin typeface="Arial"/>
                <a:cs typeface="Arial"/>
              </a:rPr>
              <a:t>1. EMPLOYEE INSIGHTS</a:t>
            </a:r>
            <a:endParaRPr lang="en-US" b="0" spc="-10" dirty="0">
              <a:latin typeface="Arial"/>
              <a:cs typeface="Arial"/>
            </a:endParaRPr>
          </a:p>
          <a:p>
            <a:pPr marL="228600" indent="-228600" algn="l">
              <a:buAutoNum type="romanLcPeriod"/>
              <a:tabLst>
                <a:tab pos="1751330" algn="l"/>
              </a:tabLst>
            </a:pPr>
            <a:r>
              <a:rPr lang="en" b="0" spc="-10" dirty="0">
                <a:latin typeface="Arial"/>
                <a:cs typeface="Arial"/>
              </a:rPr>
              <a:t>How many unique employees are currently in the system?</a:t>
            </a:r>
            <a:br>
              <a:rPr lang="en"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br>
              <a:rPr lang="en" sz="1200" b="0" spc="-10" dirty="0">
                <a:latin typeface="Arial"/>
                <a:cs typeface="Arial"/>
              </a:rPr>
            </a:br>
            <a:endParaRPr lang="en" sz="1200" b="0" spc="-10" dirty="0">
              <a:latin typeface="Arial"/>
              <a:cs typeface="Arial"/>
            </a:endParaRPr>
          </a:p>
          <a:p>
            <a:pPr algn="l">
              <a:tabLst>
                <a:tab pos="1751330" algn="l"/>
              </a:tabLst>
            </a:pPr>
            <a:endParaRPr lang="en" spc="-10" dirty="0">
              <a:latin typeface="Arial"/>
              <a:cs typeface="Arial"/>
            </a:endParaRPr>
          </a:p>
          <a:p>
            <a:pPr algn="l">
              <a:tabLst>
                <a:tab pos="1751330" algn="l"/>
              </a:tabLst>
            </a:pPr>
            <a:br>
              <a:rPr lang="en" sz="1200" b="0" spc="-10" dirty="0">
                <a:latin typeface="Arial"/>
                <a:cs typeface="Arial"/>
              </a:rPr>
            </a:br>
            <a:endParaRPr lang="en-US" sz="1200" b="0" spc="-10">
              <a:latin typeface="Arial"/>
              <a:cs typeface="Arial"/>
            </a:endParaRPr>
          </a:p>
          <a:p>
            <a:pPr marL="12700" marR="5080">
              <a:lnSpc>
                <a:spcPct val="96400"/>
              </a:lnSpc>
              <a:spcBef>
                <a:spcPts val="310"/>
              </a:spcBef>
              <a:tabLst>
                <a:tab pos="1751330" algn="l"/>
              </a:tabLst>
            </a:pPr>
            <a:endParaRPr sz="4800" b="0" spc="-10" dirty="0">
              <a:latin typeface="Calibri"/>
              <a:ea typeface="Calibri"/>
              <a:cs typeface="Calibri"/>
            </a:endParaRPr>
          </a:p>
        </p:txBody>
      </p:sp>
      <p:pic>
        <p:nvPicPr>
          <p:cNvPr id="12" name="Picture 11" descr="A close up of a computer screen&#10;&#10;AI-generated content may be incorrect.">
            <a:extLst>
              <a:ext uri="{FF2B5EF4-FFF2-40B4-BE49-F238E27FC236}">
                <a16:creationId xmlns:a16="http://schemas.microsoft.com/office/drawing/2014/main" id="{918BD6C3-A057-712B-A041-078CE5F229C6}"/>
              </a:ext>
            </a:extLst>
          </p:cNvPr>
          <p:cNvPicPr>
            <a:picLocks noChangeAspect="1"/>
          </p:cNvPicPr>
          <p:nvPr/>
        </p:nvPicPr>
        <p:blipFill>
          <a:blip r:embed="rId7"/>
          <a:stretch>
            <a:fillRect/>
          </a:stretch>
        </p:blipFill>
        <p:spPr>
          <a:xfrm>
            <a:off x="638175" y="2813237"/>
            <a:ext cx="5850590" cy="1433231"/>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566FD314-24BF-DABE-9BC3-E5B3B8D1A249}"/>
              </a:ext>
            </a:extLst>
          </p:cNvPr>
          <p:cNvPicPr>
            <a:picLocks noChangeAspect="1"/>
          </p:cNvPicPr>
          <p:nvPr/>
        </p:nvPicPr>
        <p:blipFill>
          <a:blip r:embed="rId8"/>
          <a:stretch>
            <a:fillRect/>
          </a:stretch>
        </p:blipFill>
        <p:spPr>
          <a:xfrm>
            <a:off x="6981546" y="4747653"/>
            <a:ext cx="3787027" cy="1329577"/>
          </a:xfrm>
          <a:prstGeom prst="rect">
            <a:avLst/>
          </a:prstGeom>
        </p:spPr>
      </p:pic>
      <p:pic>
        <p:nvPicPr>
          <p:cNvPr id="7" name="Picture 6" descr="A person and person sitting on an hourglass&#10;&#10;AI-generated content may be incorrect.">
            <a:extLst>
              <a:ext uri="{FF2B5EF4-FFF2-40B4-BE49-F238E27FC236}">
                <a16:creationId xmlns:a16="http://schemas.microsoft.com/office/drawing/2014/main" id="{5F646F7D-BCA2-577F-F64F-E6EBD56F4BCC}"/>
              </a:ext>
            </a:extLst>
          </p:cNvPr>
          <p:cNvPicPr>
            <a:picLocks noChangeAspect="1"/>
          </p:cNvPicPr>
          <p:nvPr/>
        </p:nvPicPr>
        <p:blipFill>
          <a:blip r:embed="rId9"/>
          <a:stretch>
            <a:fillRect/>
          </a:stretch>
        </p:blipFill>
        <p:spPr>
          <a:xfrm>
            <a:off x="6987989" y="978948"/>
            <a:ext cx="4211168" cy="342092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874827" y="1035213"/>
            <a:ext cx="8225155" cy="301621"/>
          </a:xfrm>
          <a:prstGeom prst="rect">
            <a:avLst/>
          </a:prstGeom>
        </p:spPr>
        <p:txBody>
          <a:bodyPr vert="horz" wrap="square" lIns="0" tIns="6350" rIns="0" bIns="0" rtlCol="0" anchor="t">
            <a:spAutoFit/>
          </a:bodyPr>
          <a:lstStyle/>
          <a:p>
            <a:pPr marL="12700" marR="5080">
              <a:lnSpc>
                <a:spcPct val="102299"/>
              </a:lnSpc>
              <a:spcBef>
                <a:spcPts val="50"/>
              </a:spcBef>
            </a:pPr>
            <a:r>
              <a:rPr lang="en" dirty="0">
                <a:latin typeface="Arial"/>
                <a:cs typeface="Arial"/>
              </a:rPr>
              <a:t>ii. Which departments have the highest number of employees?</a:t>
            </a:r>
            <a:endParaRPr lang="en-US" dirty="0"/>
          </a:p>
        </p:txBody>
      </p:sp>
      <p:pic>
        <p:nvPicPr>
          <p:cNvPr id="9" name="Picture 8" descr="A screenshot of a computer code&#10;&#10;AI-generated content may be incorrect.">
            <a:extLst>
              <a:ext uri="{FF2B5EF4-FFF2-40B4-BE49-F238E27FC236}">
                <a16:creationId xmlns:a16="http://schemas.microsoft.com/office/drawing/2014/main" id="{726591B7-6E48-FDC7-6267-5C64FA11C3B4}"/>
              </a:ext>
            </a:extLst>
          </p:cNvPr>
          <p:cNvPicPr>
            <a:picLocks noChangeAspect="1"/>
          </p:cNvPicPr>
          <p:nvPr/>
        </p:nvPicPr>
        <p:blipFill>
          <a:blip r:embed="rId2"/>
          <a:stretch>
            <a:fillRect/>
          </a:stretch>
        </p:blipFill>
        <p:spPr>
          <a:xfrm>
            <a:off x="1437736" y="2054525"/>
            <a:ext cx="4658264" cy="2490158"/>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FBE3A6E0-42F5-EBFB-5F18-80DF900405B5}"/>
              </a:ext>
            </a:extLst>
          </p:cNvPr>
          <p:cNvPicPr>
            <a:picLocks noChangeAspect="1"/>
          </p:cNvPicPr>
          <p:nvPr/>
        </p:nvPicPr>
        <p:blipFill>
          <a:blip r:embed="rId3"/>
          <a:stretch>
            <a:fillRect/>
          </a:stretch>
        </p:blipFill>
        <p:spPr>
          <a:xfrm>
            <a:off x="7028551" y="2050032"/>
            <a:ext cx="3325123" cy="248476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069809" y="462557"/>
            <a:ext cx="6624320" cy="403508"/>
          </a:xfrm>
          <a:prstGeom prst="rect">
            <a:avLst/>
          </a:prstGeom>
        </p:spPr>
        <p:txBody>
          <a:bodyPr vert="horz" wrap="square" lIns="0" tIns="12700" rIns="0" bIns="0" rtlCol="0" anchor="t">
            <a:spAutoFit/>
          </a:bodyPr>
          <a:lstStyle/>
          <a:p>
            <a:pPr marL="12700" marR="5080">
              <a:lnSpc>
                <a:spcPct val="114599"/>
              </a:lnSpc>
              <a:spcBef>
                <a:spcPts val="100"/>
              </a:spcBef>
            </a:pPr>
            <a:r>
              <a:rPr lang="en-US" sz="2400" dirty="0"/>
              <a:t>iii</a:t>
            </a:r>
            <a:r>
              <a:rPr sz="2400" dirty="0"/>
              <a:t>.</a:t>
            </a:r>
            <a:r>
              <a:rPr lang="en" dirty="0">
                <a:latin typeface="Arial"/>
                <a:cs typeface="Arial"/>
              </a:rPr>
              <a:t>What is the average salary per department?</a:t>
            </a:r>
          </a:p>
        </p:txBody>
      </p:sp>
      <p:pic>
        <p:nvPicPr>
          <p:cNvPr id="7" name="Picture 6" descr="A screenshot of a computer&#10;&#10;AI-generated content may be incorrect.">
            <a:extLst>
              <a:ext uri="{FF2B5EF4-FFF2-40B4-BE49-F238E27FC236}">
                <a16:creationId xmlns:a16="http://schemas.microsoft.com/office/drawing/2014/main" id="{2D1330AF-C7EE-F3D7-03DE-25D47C5ECE8B}"/>
              </a:ext>
            </a:extLst>
          </p:cNvPr>
          <p:cNvPicPr>
            <a:picLocks noChangeAspect="1"/>
          </p:cNvPicPr>
          <p:nvPr/>
        </p:nvPicPr>
        <p:blipFill>
          <a:blip r:embed="rId2"/>
          <a:stretch>
            <a:fillRect/>
          </a:stretch>
        </p:blipFill>
        <p:spPr>
          <a:xfrm>
            <a:off x="7080669" y="1647285"/>
            <a:ext cx="3379038" cy="3088975"/>
          </a:xfrm>
          <a:prstGeom prst="rect">
            <a:avLst/>
          </a:prstGeom>
        </p:spPr>
      </p:pic>
      <p:pic>
        <p:nvPicPr>
          <p:cNvPr id="8" name="Picture 7" descr="A screenshot of a computer code&#10;&#10;AI-generated content may be incorrect.">
            <a:extLst>
              <a:ext uri="{FF2B5EF4-FFF2-40B4-BE49-F238E27FC236}">
                <a16:creationId xmlns:a16="http://schemas.microsoft.com/office/drawing/2014/main" id="{E3AD5ED1-324B-C8ED-A6C8-2E73E6B8626A}"/>
              </a:ext>
            </a:extLst>
          </p:cNvPr>
          <p:cNvPicPr>
            <a:picLocks noChangeAspect="1"/>
          </p:cNvPicPr>
          <p:nvPr/>
        </p:nvPicPr>
        <p:blipFill>
          <a:blip r:embed="rId3"/>
          <a:stretch>
            <a:fillRect/>
          </a:stretch>
        </p:blipFill>
        <p:spPr>
          <a:xfrm>
            <a:off x="1628596" y="1617811"/>
            <a:ext cx="4592846" cy="30760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2000" cy="6857999"/>
            <a:chOff x="0" y="0"/>
            <a:chExt cx="12192000" cy="6857999"/>
          </a:xfrm>
        </p:grpSpPr>
        <p:pic>
          <p:nvPicPr>
            <p:cNvPr id="3" name="object 3"/>
            <p:cNvPicPr/>
            <p:nvPr/>
          </p:nvPicPr>
          <p:blipFill>
            <a:blip r:embed="rId2" cstate="print"/>
            <a:stretch>
              <a:fillRect/>
            </a:stretch>
          </p:blipFill>
          <p:spPr>
            <a:xfrm>
              <a:off x="0" y="0"/>
              <a:ext cx="12192000" cy="6857999"/>
            </a:xfrm>
            <a:prstGeom prst="rect">
              <a:avLst/>
            </a:prstGeom>
          </p:spPr>
        </p:pic>
        <p:pic>
          <p:nvPicPr>
            <p:cNvPr id="5" name="object 5"/>
            <p:cNvPicPr/>
            <p:nvPr/>
          </p:nvPicPr>
          <p:blipFill>
            <a:blip r:embed="rId3" cstate="print"/>
            <a:stretch>
              <a:fillRect/>
            </a:stretch>
          </p:blipFill>
          <p:spPr>
            <a:xfrm>
              <a:off x="257175" y="2543175"/>
              <a:ext cx="4972049" cy="3590924"/>
            </a:xfrm>
            <a:prstGeom prst="rect">
              <a:avLst/>
            </a:prstGeom>
          </p:spPr>
        </p:pic>
        <p:pic>
          <p:nvPicPr>
            <p:cNvPr id="7" name="object 7"/>
            <p:cNvPicPr/>
            <p:nvPr/>
          </p:nvPicPr>
          <p:blipFill>
            <a:blip r:embed="rId4" cstate="print"/>
            <a:stretch>
              <a:fillRect/>
            </a:stretch>
          </p:blipFill>
          <p:spPr>
            <a:xfrm>
              <a:off x="5219700" y="3695700"/>
              <a:ext cx="6315074" cy="2695574"/>
            </a:xfrm>
            <a:prstGeom prst="rect">
              <a:avLst/>
            </a:prstGeom>
          </p:spPr>
        </p:pic>
        <p:pic>
          <p:nvPicPr>
            <p:cNvPr id="9" name="object 9"/>
            <p:cNvPicPr/>
            <p:nvPr/>
          </p:nvPicPr>
          <p:blipFill>
            <a:blip r:embed="rId5" cstate="print"/>
            <a:stretch>
              <a:fillRect/>
            </a:stretch>
          </p:blipFill>
          <p:spPr>
            <a:xfrm>
              <a:off x="8886825" y="6172200"/>
              <a:ext cx="3305174" cy="685799"/>
            </a:xfrm>
            <a:prstGeom prst="rect">
              <a:avLst/>
            </a:prstGeom>
          </p:spPr>
        </p:pic>
      </p:grpSp>
      <p:sp>
        <p:nvSpPr>
          <p:cNvPr id="10" name="object 10"/>
          <p:cNvSpPr txBox="1">
            <a:spLocks noGrp="1"/>
          </p:cNvSpPr>
          <p:nvPr>
            <p:ph type="title"/>
          </p:nvPr>
        </p:nvSpPr>
        <p:spPr>
          <a:xfrm>
            <a:off x="266327" y="677721"/>
            <a:ext cx="4766457" cy="957378"/>
          </a:xfrm>
          <a:prstGeom prst="rect">
            <a:avLst/>
          </a:prstGeom>
        </p:spPr>
        <p:txBody>
          <a:bodyPr vert="horz" wrap="square" lIns="0" tIns="67945" rIns="0" bIns="0" rtlCol="0" anchor="t">
            <a:spAutoFit/>
          </a:bodyPr>
          <a:lstStyle/>
          <a:p>
            <a:pPr marL="12700" marR="5080" algn="just">
              <a:lnSpc>
                <a:spcPts val="3679"/>
              </a:lnSpc>
              <a:spcBef>
                <a:spcPts val="535"/>
              </a:spcBef>
            </a:pPr>
            <a:r>
              <a:rPr lang="en-US" sz="3350" b="0" dirty="0">
                <a:latin typeface="Calibri"/>
                <a:cs typeface="Calibri"/>
              </a:rPr>
              <a:t>iv</a:t>
            </a:r>
            <a:r>
              <a:rPr sz="3350" b="0" dirty="0">
                <a:latin typeface="Calibri"/>
                <a:cs typeface="Calibri"/>
              </a:rPr>
              <a:t>.</a:t>
            </a:r>
            <a:r>
              <a:rPr lang="en-US" sz="3350" b="0" dirty="0">
                <a:latin typeface="Calibri"/>
                <a:ea typeface="Calibri"/>
                <a:cs typeface="Calibri"/>
              </a:rPr>
              <a:t> </a:t>
            </a:r>
            <a:r>
              <a:rPr lang="en-US" dirty="0">
                <a:latin typeface="Arial"/>
                <a:cs typeface="Arial"/>
              </a:rPr>
              <a:t>Who are the top 5 highest-paid employees?</a:t>
            </a:r>
          </a:p>
        </p:txBody>
      </p:sp>
      <p:pic>
        <p:nvPicPr>
          <p:cNvPr id="11" name="Picture 10" descr="A screenshot of a computer&#10;&#10;AI-generated content may be incorrect.">
            <a:extLst>
              <a:ext uri="{FF2B5EF4-FFF2-40B4-BE49-F238E27FC236}">
                <a16:creationId xmlns:a16="http://schemas.microsoft.com/office/drawing/2014/main" id="{A4D15FF1-FBC2-1B8E-BA7A-862844AB1664}"/>
              </a:ext>
            </a:extLst>
          </p:cNvPr>
          <p:cNvPicPr>
            <a:picLocks noChangeAspect="1"/>
          </p:cNvPicPr>
          <p:nvPr/>
        </p:nvPicPr>
        <p:blipFill>
          <a:blip r:embed="rId6"/>
          <a:stretch>
            <a:fillRect/>
          </a:stretch>
        </p:blipFill>
        <p:spPr>
          <a:xfrm>
            <a:off x="440577" y="2413420"/>
            <a:ext cx="4467225" cy="3555160"/>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E2EEA9DB-A715-5AC8-91B4-82E34904D4F2}"/>
              </a:ext>
            </a:extLst>
          </p:cNvPr>
          <p:cNvPicPr>
            <a:picLocks noChangeAspect="1"/>
          </p:cNvPicPr>
          <p:nvPr/>
        </p:nvPicPr>
        <p:blipFill>
          <a:blip r:embed="rId7"/>
          <a:stretch>
            <a:fillRect/>
          </a:stretch>
        </p:blipFill>
        <p:spPr>
          <a:xfrm>
            <a:off x="5495143" y="3968133"/>
            <a:ext cx="5731237" cy="2130285"/>
          </a:xfrm>
          <a:prstGeom prst="rect">
            <a:avLst/>
          </a:prstGeom>
        </p:spPr>
      </p:pic>
      <p:pic>
        <p:nvPicPr>
          <p:cNvPr id="6" name="Picture 5" descr="A group of people working on a puzzle&#10;&#10;AI-generated content may be incorrect.">
            <a:extLst>
              <a:ext uri="{FF2B5EF4-FFF2-40B4-BE49-F238E27FC236}">
                <a16:creationId xmlns:a16="http://schemas.microsoft.com/office/drawing/2014/main" id="{36961946-0718-C449-6A4F-C352134D1C09}"/>
              </a:ext>
            </a:extLst>
          </p:cNvPr>
          <p:cNvPicPr>
            <a:picLocks noChangeAspect="1"/>
          </p:cNvPicPr>
          <p:nvPr/>
        </p:nvPicPr>
        <p:blipFill>
          <a:blip r:embed="rId8"/>
          <a:stretch>
            <a:fillRect/>
          </a:stretch>
        </p:blipFill>
        <p:spPr>
          <a:xfrm>
            <a:off x="5508813" y="790967"/>
            <a:ext cx="5365375" cy="292283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1083190" y="880171"/>
            <a:ext cx="7936079" cy="731675"/>
          </a:xfrm>
          <a:prstGeom prst="rect">
            <a:avLst/>
          </a:prstGeom>
        </p:spPr>
        <p:txBody>
          <a:bodyPr vert="horz" wrap="square" lIns="0" tIns="104775" rIns="0" bIns="0" rtlCol="0" anchor="t">
            <a:spAutoFit/>
          </a:bodyPr>
          <a:lstStyle/>
          <a:p>
            <a:pPr marL="12700" marR="5080">
              <a:lnSpc>
                <a:spcPts val="5850"/>
              </a:lnSpc>
              <a:spcBef>
                <a:spcPts val="825"/>
              </a:spcBef>
            </a:pPr>
            <a:r>
              <a:rPr lang="en" dirty="0">
                <a:latin typeface="Arial"/>
                <a:cs typeface="Arial"/>
              </a:rPr>
              <a:t>V. What is the total salary expenditure across the company?</a:t>
            </a:r>
          </a:p>
        </p:txBody>
      </p:sp>
      <p:pic>
        <p:nvPicPr>
          <p:cNvPr id="12" name="Picture 11" descr="A close up of a text&#10;&#10;AI-generated content may be incorrect.">
            <a:extLst>
              <a:ext uri="{FF2B5EF4-FFF2-40B4-BE49-F238E27FC236}">
                <a16:creationId xmlns:a16="http://schemas.microsoft.com/office/drawing/2014/main" id="{0A1A16C5-81AE-85BC-94A2-03F28B42C3D5}"/>
              </a:ext>
            </a:extLst>
          </p:cNvPr>
          <p:cNvPicPr>
            <a:picLocks noChangeAspect="1"/>
          </p:cNvPicPr>
          <p:nvPr/>
        </p:nvPicPr>
        <p:blipFill>
          <a:blip r:embed="rId2"/>
          <a:stretch>
            <a:fillRect/>
          </a:stretch>
        </p:blipFill>
        <p:spPr>
          <a:xfrm>
            <a:off x="609600" y="2693239"/>
            <a:ext cx="5380007" cy="1816579"/>
          </a:xfrm>
          <a:prstGeom prst="rect">
            <a:avLst/>
          </a:prstGeom>
        </p:spPr>
      </p:pic>
      <p:pic>
        <p:nvPicPr>
          <p:cNvPr id="13" name="Picture 12" descr="A close up of a number&#10;&#10;AI-generated content may be incorrect.">
            <a:extLst>
              <a:ext uri="{FF2B5EF4-FFF2-40B4-BE49-F238E27FC236}">
                <a16:creationId xmlns:a16="http://schemas.microsoft.com/office/drawing/2014/main" id="{F8976A51-0E5A-56DD-DE0E-6C01B5B80300}"/>
              </a:ext>
            </a:extLst>
          </p:cNvPr>
          <p:cNvPicPr>
            <a:picLocks noChangeAspect="1"/>
          </p:cNvPicPr>
          <p:nvPr/>
        </p:nvPicPr>
        <p:blipFill>
          <a:blip r:embed="rId3"/>
          <a:stretch>
            <a:fillRect/>
          </a:stretch>
        </p:blipFill>
        <p:spPr>
          <a:xfrm>
            <a:off x="6695932" y="2695720"/>
            <a:ext cx="4030229" cy="117792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object 13"/>
          <p:cNvSpPr txBox="1"/>
          <p:nvPr/>
        </p:nvSpPr>
        <p:spPr>
          <a:xfrm>
            <a:off x="429282" y="1434487"/>
            <a:ext cx="4322704" cy="2775119"/>
          </a:xfrm>
          <a:prstGeom prst="rect">
            <a:avLst/>
          </a:prstGeom>
        </p:spPr>
        <p:txBody>
          <a:bodyPr vert="horz" wrap="square" lIns="0" tIns="96520" rIns="0" bIns="0" rtlCol="0" anchor="t">
            <a:spAutoFit/>
          </a:bodyPr>
          <a:lstStyle/>
          <a:p>
            <a:pPr algn="l"/>
            <a:r>
              <a:rPr lang="en" sz="2400" b="1" spc="-10" dirty="0">
                <a:latin typeface="Arial"/>
                <a:cs typeface="Arial"/>
              </a:rPr>
              <a:t>2. JOB ROLE AND DEPARTMENT ANALYSIS</a:t>
            </a:r>
            <a:endParaRPr lang="en-US" sz="2400" spc="-10" dirty="0">
              <a:latin typeface="Arial"/>
              <a:cs typeface="Arial"/>
            </a:endParaRPr>
          </a:p>
          <a:p>
            <a:pPr marL="342900" indent="-342900" algn="l">
              <a:buAutoNum type="romanLcPeriod"/>
            </a:pPr>
            <a:endParaRPr lang="en" sz="1200" spc="-10" dirty="0">
              <a:latin typeface="Arial"/>
              <a:cs typeface="Arial"/>
            </a:endParaRPr>
          </a:p>
          <a:p>
            <a:pPr marL="457200" indent="-457200" algn="l">
              <a:buAutoNum type="romanLcPeriod"/>
            </a:pPr>
            <a:r>
              <a:rPr lang="en" sz="2000" b="1" spc="-10" dirty="0">
                <a:latin typeface="Arial"/>
                <a:cs typeface="Arial"/>
              </a:rPr>
              <a:t>How many different job roles exist in each department?</a:t>
            </a:r>
            <a:br>
              <a:rPr lang="en" sz="1200" spc="-10" dirty="0">
                <a:latin typeface="Arial"/>
                <a:cs typeface="Arial"/>
              </a:rPr>
            </a:br>
            <a:endParaRPr lang="en-US" sz="1200" spc="-10">
              <a:latin typeface="Arial"/>
              <a:cs typeface="Arial"/>
            </a:endParaRPr>
          </a:p>
          <a:p>
            <a:pPr marL="342900" indent="-342900" algn="l">
              <a:buAutoNum type="romanLcPeriod"/>
            </a:pPr>
            <a:endParaRPr lang="en" sz="1200" spc="-10" dirty="0">
              <a:latin typeface="Arial"/>
              <a:cs typeface="Arial"/>
            </a:endParaRPr>
          </a:p>
          <a:p>
            <a:pPr marL="12700" marR="5080">
              <a:lnSpc>
                <a:spcPts val="5180"/>
              </a:lnSpc>
              <a:spcBef>
                <a:spcPts val="760"/>
              </a:spcBef>
            </a:pPr>
            <a:endParaRPr sz="4800" spc="-10" dirty="0">
              <a:latin typeface="Calibri"/>
              <a:cs typeface="Calibri"/>
            </a:endParaRPr>
          </a:p>
        </p:txBody>
      </p:sp>
      <p:pic>
        <p:nvPicPr>
          <p:cNvPr id="14" name="Picture 13" descr="A screenshot of a computer code&#10;&#10;AI-generated content may be incorrect.">
            <a:extLst>
              <a:ext uri="{FF2B5EF4-FFF2-40B4-BE49-F238E27FC236}">
                <a16:creationId xmlns:a16="http://schemas.microsoft.com/office/drawing/2014/main" id="{13550EC4-7D0F-B0B7-130E-8621D438CB07}"/>
              </a:ext>
            </a:extLst>
          </p:cNvPr>
          <p:cNvPicPr>
            <a:picLocks noChangeAspect="1"/>
          </p:cNvPicPr>
          <p:nvPr/>
        </p:nvPicPr>
        <p:blipFill>
          <a:blip r:embed="rId2"/>
          <a:stretch>
            <a:fillRect/>
          </a:stretch>
        </p:blipFill>
        <p:spPr>
          <a:xfrm>
            <a:off x="5248995" y="1022769"/>
            <a:ext cx="6424162" cy="1807593"/>
          </a:xfrm>
          <a:prstGeom prst="rect">
            <a:avLst/>
          </a:prstGeom>
        </p:spPr>
      </p:pic>
      <p:pic>
        <p:nvPicPr>
          <p:cNvPr id="15" name="Picture 14" descr="A screenshot of a computer&#10;&#10;AI-generated content may be incorrect.">
            <a:extLst>
              <a:ext uri="{FF2B5EF4-FFF2-40B4-BE49-F238E27FC236}">
                <a16:creationId xmlns:a16="http://schemas.microsoft.com/office/drawing/2014/main" id="{4EDC0A56-4847-DC25-995F-85F26559E56A}"/>
              </a:ext>
            </a:extLst>
          </p:cNvPr>
          <p:cNvPicPr>
            <a:picLocks noChangeAspect="1"/>
          </p:cNvPicPr>
          <p:nvPr/>
        </p:nvPicPr>
        <p:blipFill>
          <a:blip r:embed="rId3"/>
          <a:stretch>
            <a:fillRect/>
          </a:stretch>
        </p:blipFill>
        <p:spPr>
          <a:xfrm>
            <a:off x="7780758" y="3377510"/>
            <a:ext cx="3761655" cy="2345846"/>
          </a:xfrm>
          <a:prstGeom prst="rect">
            <a:avLst/>
          </a:prstGeom>
        </p:spPr>
      </p:pic>
      <p:pic>
        <p:nvPicPr>
          <p:cNvPr id="7" name="Picture 6" descr="A computer with a calendar and calendar&#10;&#10;AI-generated content may be incorrect.">
            <a:extLst>
              <a:ext uri="{FF2B5EF4-FFF2-40B4-BE49-F238E27FC236}">
                <a16:creationId xmlns:a16="http://schemas.microsoft.com/office/drawing/2014/main" id="{8882AF34-7622-1DB4-F502-FD8D2D059892}"/>
              </a:ext>
            </a:extLst>
          </p:cNvPr>
          <p:cNvPicPr>
            <a:picLocks noChangeAspect="1"/>
          </p:cNvPicPr>
          <p:nvPr/>
        </p:nvPicPr>
        <p:blipFill>
          <a:blip r:embed="rId4"/>
          <a:stretch>
            <a:fillRect/>
          </a:stretch>
        </p:blipFill>
        <p:spPr>
          <a:xfrm>
            <a:off x="908207" y="3255180"/>
            <a:ext cx="5591465" cy="324687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object 11"/>
          <p:cNvSpPr txBox="1">
            <a:spLocks noGrp="1"/>
          </p:cNvSpPr>
          <p:nvPr>
            <p:ph type="title"/>
          </p:nvPr>
        </p:nvSpPr>
        <p:spPr>
          <a:xfrm>
            <a:off x="132394" y="188966"/>
            <a:ext cx="10430490" cy="904773"/>
          </a:xfrm>
          <a:prstGeom prst="rect">
            <a:avLst/>
          </a:prstGeom>
        </p:spPr>
        <p:txBody>
          <a:bodyPr vert="horz" wrap="square" lIns="0" tIns="522516" rIns="0" bIns="0" rtlCol="0" anchor="t">
            <a:spAutoFit/>
          </a:bodyPr>
          <a:lstStyle/>
          <a:p>
            <a:pPr marL="5364480" marR="5080" indent="-3420745">
              <a:lnSpc>
                <a:spcPts val="3300"/>
              </a:lnSpc>
              <a:spcBef>
                <a:spcPts val="540"/>
              </a:spcBef>
            </a:pPr>
            <a:r>
              <a:rPr lang="en" spc="-10" dirty="0">
                <a:latin typeface="Arial"/>
                <a:cs typeface="Arial"/>
              </a:rPr>
              <a:t>ii. What is the average salary range per department?</a:t>
            </a:r>
            <a:endParaRPr lang="en-US" dirty="0"/>
          </a:p>
        </p:txBody>
      </p:sp>
      <p:pic>
        <p:nvPicPr>
          <p:cNvPr id="12" name="Picture 11" descr="A screenshot of a computer code&#10;&#10;AI-generated content may be incorrect.">
            <a:extLst>
              <a:ext uri="{FF2B5EF4-FFF2-40B4-BE49-F238E27FC236}">
                <a16:creationId xmlns:a16="http://schemas.microsoft.com/office/drawing/2014/main" id="{A5D0266D-9184-D22D-731E-94B2BD1DDC77}"/>
              </a:ext>
            </a:extLst>
          </p:cNvPr>
          <p:cNvPicPr>
            <a:picLocks noChangeAspect="1"/>
          </p:cNvPicPr>
          <p:nvPr/>
        </p:nvPicPr>
        <p:blipFill>
          <a:blip r:embed="rId2"/>
          <a:stretch>
            <a:fillRect/>
          </a:stretch>
        </p:blipFill>
        <p:spPr>
          <a:xfrm>
            <a:off x="3737036" y="1867081"/>
            <a:ext cx="4991098" cy="2390594"/>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DDE7441A-77A5-7CF5-CE8B-2A7931BFD029}"/>
              </a:ext>
            </a:extLst>
          </p:cNvPr>
          <p:cNvPicPr>
            <a:picLocks noChangeAspect="1"/>
          </p:cNvPicPr>
          <p:nvPr/>
        </p:nvPicPr>
        <p:blipFill>
          <a:blip r:embed="rId3"/>
          <a:stretch>
            <a:fillRect/>
          </a:stretch>
        </p:blipFill>
        <p:spPr>
          <a:xfrm>
            <a:off x="587316" y="1853600"/>
            <a:ext cx="2577860" cy="4344119"/>
          </a:xfrm>
          <a:prstGeom prst="rect">
            <a:avLst/>
          </a:prstGeom>
        </p:spPr>
      </p:pic>
      <p:pic>
        <p:nvPicPr>
          <p:cNvPr id="5" name="Picture 4" descr="A group of people standing next to a computer&#10;&#10;AI-generated content may be incorrect.">
            <a:extLst>
              <a:ext uri="{FF2B5EF4-FFF2-40B4-BE49-F238E27FC236}">
                <a16:creationId xmlns:a16="http://schemas.microsoft.com/office/drawing/2014/main" id="{43BC4F0A-F952-3971-D906-0DAC4E37DB6E}"/>
              </a:ext>
            </a:extLst>
          </p:cNvPr>
          <p:cNvPicPr>
            <a:picLocks noChangeAspect="1"/>
          </p:cNvPicPr>
          <p:nvPr/>
        </p:nvPicPr>
        <p:blipFill>
          <a:blip r:embed="rId4"/>
          <a:stretch>
            <a:fillRect/>
          </a:stretch>
        </p:blipFill>
        <p:spPr>
          <a:xfrm>
            <a:off x="8966777" y="1399887"/>
            <a:ext cx="2917537" cy="43237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0"/>
            <a:ext cx="12191999" cy="6857999"/>
            <a:chOff x="0" y="0"/>
            <a:chExt cx="12191999" cy="6857999"/>
          </a:xfrm>
        </p:grpSpPr>
        <p:pic>
          <p:nvPicPr>
            <p:cNvPr id="3" name="object 3"/>
            <p:cNvPicPr/>
            <p:nvPr/>
          </p:nvPicPr>
          <p:blipFill>
            <a:blip r:embed="rId2" cstate="print"/>
            <a:stretch>
              <a:fillRect/>
            </a:stretch>
          </p:blipFill>
          <p:spPr>
            <a:xfrm>
              <a:off x="0" y="0"/>
              <a:ext cx="12191999" cy="6857999"/>
            </a:xfrm>
            <a:prstGeom prst="rect">
              <a:avLst/>
            </a:prstGeom>
          </p:spPr>
        </p:pic>
        <p:pic>
          <p:nvPicPr>
            <p:cNvPr id="4" name="object 4"/>
            <p:cNvPicPr/>
            <p:nvPr/>
          </p:nvPicPr>
          <p:blipFill>
            <a:blip r:embed="rId3" cstate="print"/>
            <a:stretch>
              <a:fillRect/>
            </a:stretch>
          </p:blipFill>
          <p:spPr>
            <a:xfrm>
              <a:off x="0" y="0"/>
              <a:ext cx="12191999" cy="5495924"/>
            </a:xfrm>
            <a:prstGeom prst="rect">
              <a:avLst/>
            </a:prstGeom>
          </p:spPr>
        </p:pic>
        <p:pic>
          <p:nvPicPr>
            <p:cNvPr id="5" name="object 5"/>
            <p:cNvPicPr/>
            <p:nvPr/>
          </p:nvPicPr>
          <p:blipFill>
            <a:blip r:embed="rId4" cstate="print"/>
            <a:stretch>
              <a:fillRect/>
            </a:stretch>
          </p:blipFill>
          <p:spPr>
            <a:xfrm>
              <a:off x="0" y="0"/>
              <a:ext cx="12191999" cy="5133974"/>
            </a:xfrm>
            <a:prstGeom prst="rect">
              <a:avLst/>
            </a:prstGeom>
          </p:spPr>
        </p:pic>
        <p:pic>
          <p:nvPicPr>
            <p:cNvPr id="7" name="object 7"/>
            <p:cNvPicPr/>
            <p:nvPr/>
          </p:nvPicPr>
          <p:blipFill>
            <a:blip r:embed="rId5" cstate="print"/>
            <a:stretch>
              <a:fillRect/>
            </a:stretch>
          </p:blipFill>
          <p:spPr>
            <a:xfrm>
              <a:off x="3733800" y="876300"/>
              <a:ext cx="4857749" cy="2314574"/>
            </a:xfrm>
            <a:prstGeom prst="rect">
              <a:avLst/>
            </a:prstGeom>
          </p:spPr>
        </p:pic>
        <p:pic>
          <p:nvPicPr>
            <p:cNvPr id="9" name="object 9"/>
            <p:cNvPicPr/>
            <p:nvPr/>
          </p:nvPicPr>
          <p:blipFill>
            <a:blip r:embed="rId6" cstate="print"/>
            <a:stretch>
              <a:fillRect/>
            </a:stretch>
          </p:blipFill>
          <p:spPr>
            <a:xfrm>
              <a:off x="8515350" y="523875"/>
              <a:ext cx="3638549" cy="4743449"/>
            </a:xfrm>
            <a:prstGeom prst="rect">
              <a:avLst/>
            </a:prstGeom>
          </p:spPr>
        </p:pic>
        <p:pic>
          <p:nvPicPr>
            <p:cNvPr id="11" name="object 11"/>
            <p:cNvPicPr/>
            <p:nvPr/>
          </p:nvPicPr>
          <p:blipFill>
            <a:blip r:embed="rId7" cstate="print"/>
            <a:stretch>
              <a:fillRect/>
            </a:stretch>
          </p:blipFill>
          <p:spPr>
            <a:xfrm>
              <a:off x="8886825" y="6067425"/>
              <a:ext cx="3305174" cy="685799"/>
            </a:xfrm>
            <a:prstGeom prst="rect">
              <a:avLst/>
            </a:prstGeom>
          </p:spPr>
        </p:pic>
      </p:grpSp>
      <p:sp>
        <p:nvSpPr>
          <p:cNvPr id="12" name="object 12"/>
          <p:cNvSpPr txBox="1"/>
          <p:nvPr/>
        </p:nvSpPr>
        <p:spPr>
          <a:xfrm>
            <a:off x="643572" y="5268390"/>
            <a:ext cx="4930775" cy="958019"/>
          </a:xfrm>
          <a:prstGeom prst="rect">
            <a:avLst/>
          </a:prstGeom>
        </p:spPr>
        <p:txBody>
          <a:bodyPr vert="horz" wrap="square" lIns="0" tIns="68580" rIns="0" bIns="0" rtlCol="0" anchor="t">
            <a:spAutoFit/>
          </a:bodyPr>
          <a:lstStyle/>
          <a:p>
            <a:pPr marL="12700" marR="5080">
              <a:lnSpc>
                <a:spcPts val="3670"/>
              </a:lnSpc>
              <a:spcBef>
                <a:spcPts val="540"/>
              </a:spcBef>
            </a:pPr>
            <a:r>
              <a:rPr lang="en" sz="2000" b="1" spc="-10" dirty="0">
                <a:latin typeface="Arial"/>
                <a:cs typeface="Arial"/>
              </a:rPr>
              <a:t>Iii. Which job roles offer the highest salary?</a:t>
            </a:r>
            <a:endParaRPr lang="en" sz="2000" b="1" dirty="0">
              <a:latin typeface="Arial"/>
              <a:cs typeface="Arial"/>
            </a:endParaRPr>
          </a:p>
        </p:txBody>
      </p:sp>
      <p:pic>
        <p:nvPicPr>
          <p:cNvPr id="13" name="Picture 12" descr="A screenshot of a computer&#10;&#10;AI-generated content may be incorrect.">
            <a:extLst>
              <a:ext uri="{FF2B5EF4-FFF2-40B4-BE49-F238E27FC236}">
                <a16:creationId xmlns:a16="http://schemas.microsoft.com/office/drawing/2014/main" id="{2E8EBAEB-C3F5-5DE1-A919-7E3BDE0FFA7D}"/>
              </a:ext>
            </a:extLst>
          </p:cNvPr>
          <p:cNvPicPr>
            <a:picLocks noChangeAspect="1"/>
          </p:cNvPicPr>
          <p:nvPr/>
        </p:nvPicPr>
        <p:blipFill>
          <a:blip r:embed="rId8"/>
          <a:stretch>
            <a:fillRect/>
          </a:stretch>
        </p:blipFill>
        <p:spPr>
          <a:xfrm>
            <a:off x="3871913" y="1215337"/>
            <a:ext cx="4290025" cy="1710007"/>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26EE8336-97DE-CC8B-830D-AF4F8FDA4408}"/>
              </a:ext>
            </a:extLst>
          </p:cNvPr>
          <p:cNvPicPr>
            <a:picLocks noChangeAspect="1"/>
          </p:cNvPicPr>
          <p:nvPr/>
        </p:nvPicPr>
        <p:blipFill>
          <a:blip r:embed="rId9"/>
          <a:stretch>
            <a:fillRect/>
          </a:stretch>
        </p:blipFill>
        <p:spPr>
          <a:xfrm>
            <a:off x="8250627" y="716442"/>
            <a:ext cx="3943350" cy="4562475"/>
          </a:xfrm>
          <a:prstGeom prst="rect">
            <a:avLst/>
          </a:prstGeom>
        </p:spPr>
      </p:pic>
      <p:pic>
        <p:nvPicPr>
          <p:cNvPr id="8" name="Picture 7" descr="A person typing on a keyboard&#10;&#10;AI-generated content may be incorrect.">
            <a:extLst>
              <a:ext uri="{FF2B5EF4-FFF2-40B4-BE49-F238E27FC236}">
                <a16:creationId xmlns:a16="http://schemas.microsoft.com/office/drawing/2014/main" id="{3FCA11AF-7A9D-C1FA-1661-5BE48260ECBE}"/>
              </a:ext>
            </a:extLst>
          </p:cNvPr>
          <p:cNvPicPr>
            <a:picLocks noChangeAspect="1"/>
          </p:cNvPicPr>
          <p:nvPr/>
        </p:nvPicPr>
        <p:blipFill>
          <a:blip r:embed="rId10"/>
          <a:stretch>
            <a:fillRect/>
          </a:stretch>
        </p:blipFill>
        <p:spPr>
          <a:xfrm>
            <a:off x="640052" y="533978"/>
            <a:ext cx="3049444" cy="427759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42875" y="1609725"/>
            <a:ext cx="11896724" cy="4410074"/>
            <a:chOff x="142875" y="1609725"/>
            <a:chExt cx="11896724" cy="4410074"/>
          </a:xfrm>
        </p:grpSpPr>
        <p:pic>
          <p:nvPicPr>
            <p:cNvPr id="3" name="object 3"/>
            <p:cNvPicPr/>
            <p:nvPr/>
          </p:nvPicPr>
          <p:blipFill>
            <a:blip r:embed="rId2" cstate="print"/>
            <a:stretch>
              <a:fillRect/>
            </a:stretch>
          </p:blipFill>
          <p:spPr>
            <a:xfrm>
              <a:off x="5886450" y="1609725"/>
              <a:ext cx="6153149" cy="4410074"/>
            </a:xfrm>
            <a:prstGeom prst="rect">
              <a:avLst/>
            </a:prstGeom>
          </p:spPr>
        </p:pic>
        <p:pic>
          <p:nvPicPr>
            <p:cNvPr id="5" name="object 5"/>
            <p:cNvPicPr/>
            <p:nvPr/>
          </p:nvPicPr>
          <p:blipFill>
            <a:blip r:embed="rId3" cstate="print"/>
            <a:stretch>
              <a:fillRect/>
            </a:stretch>
          </p:blipFill>
          <p:spPr>
            <a:xfrm>
              <a:off x="142875" y="1628775"/>
              <a:ext cx="5905499" cy="3152774"/>
            </a:xfrm>
            <a:prstGeom prst="rect">
              <a:avLst/>
            </a:prstGeom>
          </p:spPr>
        </p:pic>
      </p:grpSp>
      <p:sp>
        <p:nvSpPr>
          <p:cNvPr id="7" name="object 7"/>
          <p:cNvSpPr txBox="1">
            <a:spLocks noGrp="1"/>
          </p:cNvSpPr>
          <p:nvPr>
            <p:ph type="title"/>
          </p:nvPr>
        </p:nvSpPr>
        <p:spPr>
          <a:xfrm>
            <a:off x="132394" y="188966"/>
            <a:ext cx="10430490" cy="930578"/>
          </a:xfrm>
          <a:prstGeom prst="rect">
            <a:avLst/>
          </a:prstGeom>
        </p:spPr>
        <p:txBody>
          <a:bodyPr vert="horz" wrap="square" lIns="0" tIns="616778" rIns="0" bIns="0" rtlCol="0" anchor="t">
            <a:spAutoFit/>
          </a:bodyPr>
          <a:lstStyle/>
          <a:p>
            <a:pPr marL="125730">
              <a:spcBef>
                <a:spcPts val="100"/>
              </a:spcBef>
            </a:pPr>
            <a:r>
              <a:rPr lang="en" spc="-10" dirty="0">
                <a:latin typeface="Arial"/>
                <a:cs typeface="Arial"/>
              </a:rPr>
              <a:t>iv. Which departments have the highest total salary allocation?</a:t>
            </a:r>
            <a:endParaRPr lang="en" dirty="0">
              <a:latin typeface="Arial"/>
              <a:cs typeface="Arial"/>
            </a:endParaRPr>
          </a:p>
        </p:txBody>
      </p:sp>
      <p:pic>
        <p:nvPicPr>
          <p:cNvPr id="8" name="Picture 7" descr="A screenshot of a computer code&#10;&#10;AI-generated content may be incorrect.">
            <a:extLst>
              <a:ext uri="{FF2B5EF4-FFF2-40B4-BE49-F238E27FC236}">
                <a16:creationId xmlns:a16="http://schemas.microsoft.com/office/drawing/2014/main" id="{43A824F8-BA13-74A9-8D95-422CF1D405D8}"/>
              </a:ext>
            </a:extLst>
          </p:cNvPr>
          <p:cNvPicPr>
            <a:picLocks noChangeAspect="1"/>
          </p:cNvPicPr>
          <p:nvPr/>
        </p:nvPicPr>
        <p:blipFill>
          <a:blip r:embed="rId4"/>
          <a:stretch>
            <a:fillRect/>
          </a:stretch>
        </p:blipFill>
        <p:spPr>
          <a:xfrm>
            <a:off x="656597" y="2049583"/>
            <a:ext cx="4854694" cy="2399401"/>
          </a:xfrm>
          <a:prstGeom prst="rect">
            <a:avLst/>
          </a:prstGeom>
        </p:spPr>
      </p:pic>
      <p:pic>
        <p:nvPicPr>
          <p:cNvPr id="9" name="Picture 8" descr="A screenshot of a calculator&#10;&#10;AI-generated content may be incorrect.">
            <a:extLst>
              <a:ext uri="{FF2B5EF4-FFF2-40B4-BE49-F238E27FC236}">
                <a16:creationId xmlns:a16="http://schemas.microsoft.com/office/drawing/2014/main" id="{A31FAA04-C5EC-7E79-C767-502A3A5F8F8A}"/>
              </a:ext>
            </a:extLst>
          </p:cNvPr>
          <p:cNvPicPr>
            <a:picLocks noChangeAspect="1"/>
          </p:cNvPicPr>
          <p:nvPr/>
        </p:nvPicPr>
        <p:blipFill>
          <a:blip r:embed="rId5"/>
          <a:stretch>
            <a:fillRect/>
          </a:stretch>
        </p:blipFill>
        <p:spPr>
          <a:xfrm>
            <a:off x="6094922" y="1777042"/>
            <a:ext cx="5494307" cy="3864633"/>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32394" y="188966"/>
            <a:ext cx="10430490" cy="2548132"/>
          </a:xfrm>
          <a:prstGeom prst="rect">
            <a:avLst/>
          </a:prstGeom>
        </p:spPr>
        <p:txBody>
          <a:bodyPr vert="horz" wrap="square" lIns="0" tIns="621029" rIns="0" bIns="0" rtlCol="0" anchor="t">
            <a:spAutoFit/>
          </a:bodyPr>
          <a:lstStyle/>
          <a:p>
            <a:pPr algn="l"/>
            <a:r>
              <a:rPr lang="en" sz="2400" spc="-10" dirty="0">
                <a:latin typeface="Arial"/>
                <a:cs typeface="Arial"/>
              </a:rPr>
              <a:t>3. QUALIFICATION AND SKILLS ANALYSIS</a:t>
            </a:r>
            <a:br>
              <a:rPr lang="en" sz="2400" spc="-10" dirty="0">
                <a:latin typeface="Arial"/>
                <a:cs typeface="Arial"/>
              </a:rPr>
            </a:br>
            <a:endParaRPr lang="en-US" sz="2400" spc="-10">
              <a:latin typeface="Arial"/>
              <a:cs typeface="Arial"/>
            </a:endParaRPr>
          </a:p>
          <a:p>
            <a:pPr marL="457200" indent="-457200" algn="l">
              <a:buAutoNum type="romanLcPeriod"/>
            </a:pPr>
            <a:r>
              <a:rPr lang="en" spc="-10" dirty="0">
                <a:latin typeface="Arial"/>
                <a:cs typeface="Arial"/>
              </a:rPr>
              <a:t>How many employees have at least one qualification listed?</a:t>
            </a:r>
            <a:br>
              <a:rPr lang="en" sz="1200" b="0" spc="-10" dirty="0">
                <a:latin typeface="Arial"/>
                <a:cs typeface="Arial"/>
              </a:rPr>
            </a:br>
            <a:br>
              <a:rPr lang="en" sz="1200" b="0" spc="-10" dirty="0">
                <a:latin typeface="Arial"/>
                <a:cs typeface="Arial"/>
              </a:rPr>
            </a:br>
            <a:endParaRPr lang="en-US" sz="1200" b="0" spc="-10">
              <a:latin typeface="Arial"/>
              <a:cs typeface="Arial"/>
            </a:endParaRPr>
          </a:p>
          <a:p>
            <a:pPr marL="535940">
              <a:lnSpc>
                <a:spcPct val="100000"/>
              </a:lnSpc>
              <a:spcBef>
                <a:spcPts val="125"/>
              </a:spcBef>
            </a:pPr>
            <a:endParaRPr lang="en-US" sz="3200" spc="-10" dirty="0"/>
          </a:p>
        </p:txBody>
      </p:sp>
      <p:pic>
        <p:nvPicPr>
          <p:cNvPr id="6" name="Picture 5" descr="A close up of a word&#10;&#10;AI-generated content may be incorrect.">
            <a:extLst>
              <a:ext uri="{FF2B5EF4-FFF2-40B4-BE49-F238E27FC236}">
                <a16:creationId xmlns:a16="http://schemas.microsoft.com/office/drawing/2014/main" id="{CE529D89-4466-EF4B-3BD1-0524A30EEAED}"/>
              </a:ext>
            </a:extLst>
          </p:cNvPr>
          <p:cNvPicPr>
            <a:picLocks noChangeAspect="1"/>
          </p:cNvPicPr>
          <p:nvPr/>
        </p:nvPicPr>
        <p:blipFill>
          <a:blip r:embed="rId2"/>
          <a:stretch>
            <a:fillRect/>
          </a:stretch>
        </p:blipFill>
        <p:spPr>
          <a:xfrm>
            <a:off x="1020344" y="2659182"/>
            <a:ext cx="5953125" cy="1252088"/>
          </a:xfrm>
          <a:prstGeom prst="rect">
            <a:avLst/>
          </a:prstGeom>
        </p:spPr>
      </p:pic>
      <p:pic>
        <p:nvPicPr>
          <p:cNvPr id="7" name="Picture 6" descr="A close-up of a computer screen&#10;&#10;AI-generated content may be incorrect.">
            <a:extLst>
              <a:ext uri="{FF2B5EF4-FFF2-40B4-BE49-F238E27FC236}">
                <a16:creationId xmlns:a16="http://schemas.microsoft.com/office/drawing/2014/main" id="{B8FA981F-2B0C-D24B-B0FB-689B084B22BE}"/>
              </a:ext>
            </a:extLst>
          </p:cNvPr>
          <p:cNvPicPr>
            <a:picLocks noChangeAspect="1"/>
          </p:cNvPicPr>
          <p:nvPr/>
        </p:nvPicPr>
        <p:blipFill>
          <a:blip r:embed="rId3"/>
          <a:stretch>
            <a:fillRect/>
          </a:stretch>
        </p:blipFill>
        <p:spPr>
          <a:xfrm>
            <a:off x="7656033" y="3306254"/>
            <a:ext cx="4011104" cy="2358964"/>
          </a:xfrm>
          <a:prstGeom prst="rect">
            <a:avLst/>
          </a:prstGeom>
        </p:spPr>
      </p:pic>
      <p:pic>
        <p:nvPicPr>
          <p:cNvPr id="4" name="Picture 3" descr="A person and person sitting on an hourglass&#10;&#10;AI-generated content may be incorrect.">
            <a:extLst>
              <a:ext uri="{FF2B5EF4-FFF2-40B4-BE49-F238E27FC236}">
                <a16:creationId xmlns:a16="http://schemas.microsoft.com/office/drawing/2014/main" id="{9BCA34A4-7CF9-6F5A-1E0E-F773F15C7D3B}"/>
              </a:ext>
            </a:extLst>
          </p:cNvPr>
          <p:cNvPicPr>
            <a:picLocks noChangeAspect="1"/>
          </p:cNvPicPr>
          <p:nvPr/>
        </p:nvPicPr>
        <p:blipFill>
          <a:blip r:embed="rId4"/>
          <a:stretch>
            <a:fillRect/>
          </a:stretch>
        </p:blipFill>
        <p:spPr>
          <a:xfrm>
            <a:off x="7784625" y="193857"/>
            <a:ext cx="4026441" cy="291292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9050" y="0"/>
            <a:ext cx="12172949" cy="6857999"/>
            <a:chOff x="19050" y="0"/>
            <a:chExt cx="12172949" cy="6857999"/>
          </a:xfrm>
        </p:grpSpPr>
        <p:pic>
          <p:nvPicPr>
            <p:cNvPr id="3" name="object 3"/>
            <p:cNvPicPr/>
            <p:nvPr/>
          </p:nvPicPr>
          <p:blipFill>
            <a:blip r:embed="rId2" cstate="print"/>
            <a:stretch>
              <a:fillRect/>
            </a:stretch>
          </p:blipFill>
          <p:spPr>
            <a:xfrm>
              <a:off x="19050" y="0"/>
              <a:ext cx="12172949" cy="6857999"/>
            </a:xfrm>
            <a:prstGeom prst="rect">
              <a:avLst/>
            </a:prstGeom>
          </p:spPr>
        </p:pic>
        <p:pic>
          <p:nvPicPr>
            <p:cNvPr id="7" name="object 7"/>
            <p:cNvPicPr/>
            <p:nvPr/>
          </p:nvPicPr>
          <p:blipFill>
            <a:blip r:embed="rId3" cstate="print"/>
            <a:stretch>
              <a:fillRect/>
            </a:stretch>
          </p:blipFill>
          <p:spPr>
            <a:xfrm>
              <a:off x="553821" y="4311500"/>
              <a:ext cx="3743324" cy="219074"/>
            </a:xfrm>
            <a:prstGeom prst="rect">
              <a:avLst/>
            </a:prstGeom>
          </p:spPr>
        </p:pic>
        <p:pic>
          <p:nvPicPr>
            <p:cNvPr id="10" name="object 10"/>
            <p:cNvPicPr/>
            <p:nvPr/>
          </p:nvPicPr>
          <p:blipFill>
            <a:blip r:embed="rId4" cstate="print"/>
            <a:stretch>
              <a:fillRect/>
            </a:stretch>
          </p:blipFill>
          <p:spPr>
            <a:xfrm>
              <a:off x="8886825" y="6172200"/>
              <a:ext cx="3305174" cy="685799"/>
            </a:xfrm>
            <a:prstGeom prst="rect">
              <a:avLst/>
            </a:prstGeom>
          </p:spPr>
        </p:pic>
      </p:grpSp>
      <p:sp>
        <p:nvSpPr>
          <p:cNvPr id="12" name="object 12"/>
          <p:cNvSpPr txBox="1"/>
          <p:nvPr/>
        </p:nvSpPr>
        <p:spPr>
          <a:xfrm>
            <a:off x="545240" y="832596"/>
            <a:ext cx="4692014" cy="882999"/>
          </a:xfrm>
          <a:prstGeom prst="rect">
            <a:avLst/>
          </a:prstGeom>
        </p:spPr>
        <p:txBody>
          <a:bodyPr vert="horz" wrap="square" lIns="0" tIns="16510" rIns="0" bIns="0" rtlCol="0" anchor="t">
            <a:spAutoFit/>
          </a:bodyPr>
          <a:lstStyle/>
          <a:p>
            <a:pPr marL="12700">
              <a:lnSpc>
                <a:spcPct val="150000"/>
              </a:lnSpc>
              <a:spcBef>
                <a:spcPts val="130"/>
              </a:spcBef>
            </a:pPr>
            <a:r>
              <a:rPr lang="en" sz="2000" b="1" spc="-10" dirty="0">
                <a:latin typeface="Arial"/>
                <a:cs typeface="Arial"/>
              </a:rPr>
              <a:t>ii. Which positions require the most qualifications?</a:t>
            </a:r>
            <a:endParaRPr lang="en-US" sz="2000" b="1" dirty="0"/>
          </a:p>
        </p:txBody>
      </p:sp>
      <p:pic>
        <p:nvPicPr>
          <p:cNvPr id="13" name="Picture 12" descr="A screenshot of a computer&#10;&#10;AI-generated content may be incorrect.">
            <a:extLst>
              <a:ext uri="{FF2B5EF4-FFF2-40B4-BE49-F238E27FC236}">
                <a16:creationId xmlns:a16="http://schemas.microsoft.com/office/drawing/2014/main" id="{06A92A6D-66B7-A38E-905F-9A8939FE41C8}"/>
              </a:ext>
            </a:extLst>
          </p:cNvPr>
          <p:cNvPicPr>
            <a:picLocks noChangeAspect="1"/>
          </p:cNvPicPr>
          <p:nvPr/>
        </p:nvPicPr>
        <p:blipFill>
          <a:blip r:embed="rId5"/>
          <a:stretch>
            <a:fillRect/>
          </a:stretch>
        </p:blipFill>
        <p:spPr>
          <a:xfrm>
            <a:off x="6598758" y="4056751"/>
            <a:ext cx="5176747" cy="2022534"/>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6D4273BB-808C-9696-F207-448277A7C516}"/>
              </a:ext>
            </a:extLst>
          </p:cNvPr>
          <p:cNvPicPr>
            <a:picLocks noChangeAspect="1"/>
          </p:cNvPicPr>
          <p:nvPr/>
        </p:nvPicPr>
        <p:blipFill>
          <a:blip r:embed="rId6"/>
          <a:stretch>
            <a:fillRect/>
          </a:stretch>
        </p:blipFill>
        <p:spPr>
          <a:xfrm>
            <a:off x="549918" y="2375589"/>
            <a:ext cx="4753709" cy="3731246"/>
          </a:xfrm>
          <a:prstGeom prst="rect">
            <a:avLst/>
          </a:prstGeom>
        </p:spPr>
      </p:pic>
      <p:pic>
        <p:nvPicPr>
          <p:cNvPr id="8" name="Picture 7" descr="Hands typing on a keyboard surrounded by people around them&#10;&#10;AI-generated content may be incorrect.">
            <a:extLst>
              <a:ext uri="{FF2B5EF4-FFF2-40B4-BE49-F238E27FC236}">
                <a16:creationId xmlns:a16="http://schemas.microsoft.com/office/drawing/2014/main" id="{AE3C090A-B538-EB6C-CF4F-3C397E6CDC9C}"/>
              </a:ext>
            </a:extLst>
          </p:cNvPr>
          <p:cNvPicPr>
            <a:picLocks noChangeAspect="1"/>
          </p:cNvPicPr>
          <p:nvPr/>
        </p:nvPicPr>
        <p:blipFill>
          <a:blip r:embed="rId7"/>
          <a:stretch>
            <a:fillRect/>
          </a:stretch>
        </p:blipFill>
        <p:spPr>
          <a:xfrm>
            <a:off x="5856475" y="834839"/>
            <a:ext cx="5611345" cy="274544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860776" y="188966"/>
            <a:ext cx="9702108" cy="911317"/>
          </a:xfrm>
          <a:prstGeom prst="rect">
            <a:avLst/>
          </a:prstGeom>
        </p:spPr>
        <p:txBody>
          <a:bodyPr vert="horz" wrap="square" lIns="0" tIns="292903" rIns="0" bIns="0" rtlCol="0" anchor="t">
            <a:spAutoFit/>
          </a:bodyPr>
          <a:lstStyle/>
          <a:p>
            <a:pPr marL="285750" indent="-285750" algn="l">
              <a:buAutoNum type="romanLcPeriod"/>
            </a:pPr>
            <a:endParaRPr lang="en-US" spc="-10" dirty="0">
              <a:latin typeface="Arial"/>
              <a:cs typeface="Arial"/>
            </a:endParaRPr>
          </a:p>
          <a:p>
            <a:pPr algn="l"/>
            <a:r>
              <a:rPr lang="en" spc="-10" dirty="0">
                <a:latin typeface="Arial"/>
                <a:cs typeface="Arial"/>
              </a:rPr>
              <a:t>iii. Which employees have the highest number of qualifications?</a:t>
            </a:r>
            <a:endParaRPr lang="en" dirty="0">
              <a:latin typeface="Arial"/>
              <a:cs typeface="Arial"/>
            </a:endParaRPr>
          </a:p>
        </p:txBody>
      </p:sp>
      <p:pic>
        <p:nvPicPr>
          <p:cNvPr id="7" name="Picture 6">
            <a:extLst>
              <a:ext uri="{FF2B5EF4-FFF2-40B4-BE49-F238E27FC236}">
                <a16:creationId xmlns:a16="http://schemas.microsoft.com/office/drawing/2014/main" id="{6C338390-0BCA-F293-29AA-A10435A40BBB}"/>
              </a:ext>
            </a:extLst>
          </p:cNvPr>
          <p:cNvPicPr>
            <a:picLocks noChangeAspect="1"/>
          </p:cNvPicPr>
          <p:nvPr/>
        </p:nvPicPr>
        <p:blipFill>
          <a:blip r:embed="rId2"/>
          <a:stretch>
            <a:fillRect/>
          </a:stretch>
        </p:blipFill>
        <p:spPr>
          <a:xfrm>
            <a:off x="866548" y="1525861"/>
            <a:ext cx="6657615" cy="3405456"/>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43AC2BB7-9025-60AB-30FB-A6C4B8538C66}"/>
              </a:ext>
            </a:extLst>
          </p:cNvPr>
          <p:cNvPicPr>
            <a:picLocks noChangeAspect="1"/>
          </p:cNvPicPr>
          <p:nvPr/>
        </p:nvPicPr>
        <p:blipFill>
          <a:blip r:embed="rId3"/>
          <a:stretch>
            <a:fillRect/>
          </a:stretch>
        </p:blipFill>
        <p:spPr>
          <a:xfrm>
            <a:off x="7900555" y="1663845"/>
            <a:ext cx="3733800" cy="351876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132394" y="188966"/>
            <a:ext cx="10430490" cy="1944035"/>
          </a:xfrm>
          <a:prstGeom prst="rect">
            <a:avLst/>
          </a:prstGeom>
        </p:spPr>
        <p:txBody>
          <a:bodyPr vert="horz" wrap="square" lIns="0" tIns="205654" rIns="0" bIns="0" rtlCol="0" anchor="t">
            <a:spAutoFit/>
          </a:bodyPr>
          <a:lstStyle/>
          <a:p>
            <a:pPr algn="l"/>
            <a:r>
              <a:rPr lang="en" sz="2400" spc="-10" dirty="0">
                <a:latin typeface="Arial"/>
                <a:cs typeface="Arial"/>
              </a:rPr>
              <a:t>4. LEAVE AND ABSENCE PATTERNS</a:t>
            </a:r>
            <a:br>
              <a:rPr lang="en" sz="2400" spc="-10" dirty="0">
                <a:latin typeface="Arial"/>
                <a:cs typeface="Arial"/>
              </a:rPr>
            </a:br>
            <a:endParaRPr lang="en-US" sz="2400" spc="-10">
              <a:latin typeface="Arial"/>
              <a:cs typeface="Arial"/>
            </a:endParaRPr>
          </a:p>
          <a:p>
            <a:pPr marL="457200" indent="-457200" algn="l">
              <a:buAutoNum type="romanLcPeriod"/>
            </a:pPr>
            <a:r>
              <a:rPr lang="en-US" spc="-10" dirty="0">
                <a:latin typeface="Arial"/>
                <a:cs typeface="Arial"/>
              </a:rPr>
              <a:t>Which year had the most employees taking leaves?</a:t>
            </a:r>
            <a:br>
              <a:rPr lang="en-US" sz="1200" b="0" spc="-10" dirty="0">
                <a:latin typeface="Arial"/>
                <a:cs typeface="Arial"/>
              </a:rPr>
            </a:br>
            <a:endParaRPr lang="en-US" sz="1200" b="0" spc="-10" dirty="0">
              <a:latin typeface="Arial"/>
              <a:cs typeface="Arial"/>
            </a:endParaRPr>
          </a:p>
          <a:p>
            <a:pPr marL="285750" indent="-285750" algn="l">
              <a:buAutoNum type="romanLcPeriod"/>
            </a:pPr>
            <a:endParaRPr lang="en" sz="1200" b="0" spc="-10" dirty="0">
              <a:latin typeface="Arial"/>
              <a:cs typeface="Arial"/>
            </a:endParaRPr>
          </a:p>
          <a:p>
            <a:pPr marL="353695">
              <a:lnSpc>
                <a:spcPct val="100000"/>
              </a:lnSpc>
              <a:spcBef>
                <a:spcPts val="125"/>
              </a:spcBef>
            </a:pPr>
            <a:endParaRPr lang="en-US" spc="-10" dirty="0"/>
          </a:p>
        </p:txBody>
      </p:sp>
      <p:pic>
        <p:nvPicPr>
          <p:cNvPr id="8" name="Picture 7" descr="A white background with black text&#10;&#10;AI-generated content may be incorrect.">
            <a:extLst>
              <a:ext uri="{FF2B5EF4-FFF2-40B4-BE49-F238E27FC236}">
                <a16:creationId xmlns:a16="http://schemas.microsoft.com/office/drawing/2014/main" id="{46ABE30C-FB37-E65E-8F06-177FF64B465E}"/>
              </a:ext>
            </a:extLst>
          </p:cNvPr>
          <p:cNvPicPr>
            <a:picLocks noChangeAspect="1"/>
          </p:cNvPicPr>
          <p:nvPr/>
        </p:nvPicPr>
        <p:blipFill>
          <a:blip r:embed="rId2"/>
          <a:stretch>
            <a:fillRect/>
          </a:stretch>
        </p:blipFill>
        <p:spPr>
          <a:xfrm>
            <a:off x="814657" y="1717466"/>
            <a:ext cx="4481064" cy="1740918"/>
          </a:xfrm>
          <a:prstGeom prst="rect">
            <a:avLst/>
          </a:prstGeom>
        </p:spPr>
      </p:pic>
      <p:pic>
        <p:nvPicPr>
          <p:cNvPr id="10" name="Picture 9" descr="A close-up of a number&#10;&#10;AI-generated content may be incorrect.">
            <a:extLst>
              <a:ext uri="{FF2B5EF4-FFF2-40B4-BE49-F238E27FC236}">
                <a16:creationId xmlns:a16="http://schemas.microsoft.com/office/drawing/2014/main" id="{EEE437B4-BB4E-EF17-C833-EF7008696210}"/>
              </a:ext>
            </a:extLst>
          </p:cNvPr>
          <p:cNvPicPr>
            <a:picLocks noChangeAspect="1"/>
          </p:cNvPicPr>
          <p:nvPr/>
        </p:nvPicPr>
        <p:blipFill>
          <a:blip r:embed="rId3"/>
          <a:stretch>
            <a:fillRect/>
          </a:stretch>
        </p:blipFill>
        <p:spPr>
          <a:xfrm>
            <a:off x="6095568" y="2262332"/>
            <a:ext cx="4942320" cy="232179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132394" y="188966"/>
            <a:ext cx="10430490" cy="1138757"/>
          </a:xfrm>
          <a:prstGeom prst="rect">
            <a:avLst/>
          </a:prstGeom>
        </p:spPr>
        <p:txBody>
          <a:bodyPr vert="horz" wrap="square" lIns="0" tIns="518144" rIns="0" bIns="0" rtlCol="0" anchor="t">
            <a:spAutoFit/>
          </a:bodyPr>
          <a:lstStyle/>
          <a:p>
            <a:pPr marL="376555">
              <a:spcBef>
                <a:spcPts val="130"/>
              </a:spcBef>
            </a:pPr>
            <a:r>
              <a:rPr lang="en" spc="-10" dirty="0">
                <a:latin typeface="Arial"/>
                <a:cs typeface="Arial"/>
              </a:rPr>
              <a:t>ii. What is the average number of leave days taken by its employees per department?</a:t>
            </a:r>
            <a:endParaRPr lang="en" dirty="0">
              <a:latin typeface="Arial"/>
              <a:cs typeface="Arial"/>
            </a:endParaRPr>
          </a:p>
        </p:txBody>
      </p:sp>
      <p:pic>
        <p:nvPicPr>
          <p:cNvPr id="10" name="Picture 9" descr="A screenshot of a computer code&#10;&#10;AI-generated content may be incorrect.">
            <a:extLst>
              <a:ext uri="{FF2B5EF4-FFF2-40B4-BE49-F238E27FC236}">
                <a16:creationId xmlns:a16="http://schemas.microsoft.com/office/drawing/2014/main" id="{F12780E6-D1B8-268D-7336-823A3DD553B5}"/>
              </a:ext>
            </a:extLst>
          </p:cNvPr>
          <p:cNvPicPr>
            <a:picLocks noChangeAspect="1"/>
          </p:cNvPicPr>
          <p:nvPr/>
        </p:nvPicPr>
        <p:blipFill>
          <a:blip r:embed="rId2"/>
          <a:stretch>
            <a:fillRect/>
          </a:stretch>
        </p:blipFill>
        <p:spPr>
          <a:xfrm>
            <a:off x="519113" y="1710578"/>
            <a:ext cx="4145685" cy="3246005"/>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DAC3CFDF-6FBF-E0C9-D712-645F4C5DE472}"/>
              </a:ext>
            </a:extLst>
          </p:cNvPr>
          <p:cNvPicPr>
            <a:picLocks noChangeAspect="1"/>
          </p:cNvPicPr>
          <p:nvPr/>
        </p:nvPicPr>
        <p:blipFill>
          <a:blip r:embed="rId3"/>
          <a:stretch>
            <a:fillRect/>
          </a:stretch>
        </p:blipFill>
        <p:spPr>
          <a:xfrm>
            <a:off x="4752076" y="2884009"/>
            <a:ext cx="2443432" cy="3347228"/>
          </a:xfrm>
          <a:prstGeom prst="rect">
            <a:avLst/>
          </a:prstGeom>
        </p:spPr>
      </p:pic>
      <p:pic>
        <p:nvPicPr>
          <p:cNvPr id="12" name="Picture 11" descr="A poster of a person sitting on a clock&#10;&#10;AI-generated content may be incorrect.">
            <a:extLst>
              <a:ext uri="{FF2B5EF4-FFF2-40B4-BE49-F238E27FC236}">
                <a16:creationId xmlns:a16="http://schemas.microsoft.com/office/drawing/2014/main" id="{A52EF026-118C-D1EE-B014-7D70AE02489B}"/>
              </a:ext>
            </a:extLst>
          </p:cNvPr>
          <p:cNvPicPr>
            <a:picLocks noChangeAspect="1"/>
          </p:cNvPicPr>
          <p:nvPr/>
        </p:nvPicPr>
        <p:blipFill>
          <a:blip r:embed="rId4"/>
          <a:stretch>
            <a:fillRect/>
          </a:stretch>
        </p:blipFill>
        <p:spPr>
          <a:xfrm>
            <a:off x="8196892" y="1446722"/>
            <a:ext cx="3331952" cy="4453386"/>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132394" y="188966"/>
            <a:ext cx="10430490" cy="434718"/>
          </a:xfrm>
          <a:prstGeom prst="rect">
            <a:avLst/>
          </a:prstGeom>
        </p:spPr>
        <p:txBody>
          <a:bodyPr vert="horz" wrap="square" lIns="0" tIns="125714" rIns="0" bIns="0" rtlCol="0" anchor="t">
            <a:spAutoFit/>
          </a:bodyPr>
          <a:lstStyle/>
          <a:p>
            <a:pPr marL="524510">
              <a:spcBef>
                <a:spcPts val="130"/>
              </a:spcBef>
            </a:pPr>
            <a:r>
              <a:rPr lang="en" spc="-10" dirty="0">
                <a:latin typeface="Arial"/>
                <a:cs typeface="Arial"/>
              </a:rPr>
              <a:t>iii. Which employees have taken the most leaves?</a:t>
            </a:r>
            <a:endParaRPr lang="en">
              <a:latin typeface="Arial"/>
              <a:cs typeface="Arial"/>
            </a:endParaRPr>
          </a:p>
        </p:txBody>
      </p:sp>
      <p:pic>
        <p:nvPicPr>
          <p:cNvPr id="8" name="Picture 7" descr="A screenshot of a computer code&#10;&#10;AI-generated content may be incorrect.">
            <a:extLst>
              <a:ext uri="{FF2B5EF4-FFF2-40B4-BE49-F238E27FC236}">
                <a16:creationId xmlns:a16="http://schemas.microsoft.com/office/drawing/2014/main" id="{38323D5E-DC98-A42F-DCC6-9BA656756E1E}"/>
              </a:ext>
            </a:extLst>
          </p:cNvPr>
          <p:cNvPicPr>
            <a:picLocks noChangeAspect="1"/>
          </p:cNvPicPr>
          <p:nvPr/>
        </p:nvPicPr>
        <p:blipFill>
          <a:blip r:embed="rId2"/>
          <a:stretch>
            <a:fillRect/>
          </a:stretch>
        </p:blipFill>
        <p:spPr>
          <a:xfrm>
            <a:off x="953129" y="1049817"/>
            <a:ext cx="5081138" cy="237172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6BCF99EF-8503-B742-00B6-5676210A2E08}"/>
              </a:ext>
            </a:extLst>
          </p:cNvPr>
          <p:cNvPicPr>
            <a:picLocks noChangeAspect="1"/>
          </p:cNvPicPr>
          <p:nvPr/>
        </p:nvPicPr>
        <p:blipFill>
          <a:blip r:embed="rId3"/>
          <a:stretch>
            <a:fillRect/>
          </a:stretch>
        </p:blipFill>
        <p:spPr>
          <a:xfrm>
            <a:off x="6571351" y="2233343"/>
            <a:ext cx="4167636" cy="3757163"/>
          </a:xfrm>
          <a:prstGeom prst="rect">
            <a:avLst/>
          </a:prstGeom>
        </p:spPr>
      </p:pic>
      <p:pic>
        <p:nvPicPr>
          <p:cNvPr id="10" name="Picture 9" descr="A computer screen with graphics and icons&#10;&#10;AI-generated content may be incorrect.">
            <a:extLst>
              <a:ext uri="{FF2B5EF4-FFF2-40B4-BE49-F238E27FC236}">
                <a16:creationId xmlns:a16="http://schemas.microsoft.com/office/drawing/2014/main" id="{E9F53641-851B-CCA9-5354-E5F17B1625C8}"/>
              </a:ext>
            </a:extLst>
          </p:cNvPr>
          <p:cNvPicPr>
            <a:picLocks noChangeAspect="1"/>
          </p:cNvPicPr>
          <p:nvPr/>
        </p:nvPicPr>
        <p:blipFill>
          <a:blip r:embed="rId4"/>
          <a:stretch>
            <a:fillRect/>
          </a:stretch>
        </p:blipFill>
        <p:spPr>
          <a:xfrm>
            <a:off x="806571" y="3617703"/>
            <a:ext cx="4540369" cy="239742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695007" y="584857"/>
            <a:ext cx="7200526" cy="690638"/>
          </a:xfrm>
          <a:prstGeom prst="rect">
            <a:avLst/>
          </a:prstGeom>
        </p:spPr>
        <p:txBody>
          <a:bodyPr vert="horz" wrap="square" lIns="0" tIns="12700" rIns="0" bIns="0" rtlCol="0" anchor="t">
            <a:spAutoFit/>
          </a:bodyPr>
          <a:lstStyle/>
          <a:p>
            <a:pPr marL="12700" marR="5080">
              <a:lnSpc>
                <a:spcPct val="114599"/>
              </a:lnSpc>
              <a:spcBef>
                <a:spcPts val="100"/>
              </a:spcBef>
            </a:pPr>
            <a:r>
              <a:rPr lang="en-US" spc="-10" dirty="0">
                <a:latin typeface="Arial"/>
                <a:cs typeface="Arial"/>
              </a:rPr>
              <a:t>iv. What is the total number of leave days taken company-wide?</a:t>
            </a:r>
            <a:endParaRPr lang="en-US">
              <a:latin typeface="Arial"/>
              <a:cs typeface="Arial"/>
            </a:endParaRPr>
          </a:p>
        </p:txBody>
      </p:sp>
      <p:pic>
        <p:nvPicPr>
          <p:cNvPr id="7" name="Picture 6" descr="A close up of a text&#10;&#10;AI-generated content may be incorrect.">
            <a:extLst>
              <a:ext uri="{FF2B5EF4-FFF2-40B4-BE49-F238E27FC236}">
                <a16:creationId xmlns:a16="http://schemas.microsoft.com/office/drawing/2014/main" id="{74C2C89F-1AF9-AE3B-1665-716AD7B55713}"/>
              </a:ext>
            </a:extLst>
          </p:cNvPr>
          <p:cNvPicPr>
            <a:picLocks noChangeAspect="1"/>
          </p:cNvPicPr>
          <p:nvPr/>
        </p:nvPicPr>
        <p:blipFill>
          <a:blip r:embed="rId2"/>
          <a:stretch>
            <a:fillRect/>
          </a:stretch>
        </p:blipFill>
        <p:spPr>
          <a:xfrm>
            <a:off x="1295400" y="1331615"/>
            <a:ext cx="5359877" cy="1808131"/>
          </a:xfrm>
          <a:prstGeom prst="rect">
            <a:avLst/>
          </a:prstGeom>
        </p:spPr>
      </p:pic>
      <p:pic>
        <p:nvPicPr>
          <p:cNvPr id="8" name="Picture 7" descr="A close up of a computer screen&#10;&#10;AI-generated content may be incorrect.">
            <a:extLst>
              <a:ext uri="{FF2B5EF4-FFF2-40B4-BE49-F238E27FC236}">
                <a16:creationId xmlns:a16="http://schemas.microsoft.com/office/drawing/2014/main" id="{AA59A8FB-486F-52C0-9074-AE2A7D7097D7}"/>
              </a:ext>
            </a:extLst>
          </p:cNvPr>
          <p:cNvPicPr>
            <a:picLocks noChangeAspect="1"/>
          </p:cNvPicPr>
          <p:nvPr/>
        </p:nvPicPr>
        <p:blipFill>
          <a:blip r:embed="rId3"/>
          <a:stretch>
            <a:fillRect/>
          </a:stretch>
        </p:blipFill>
        <p:spPr>
          <a:xfrm>
            <a:off x="7026035" y="3425945"/>
            <a:ext cx="4422835" cy="2292110"/>
          </a:xfrm>
          <a:prstGeom prst="rect">
            <a:avLst/>
          </a:prstGeom>
        </p:spPr>
      </p:pic>
      <p:pic>
        <p:nvPicPr>
          <p:cNvPr id="9" name="Picture 8" descr="A diagram of a meeting&#10;&#10;AI-generated content may be incorrect.">
            <a:extLst>
              <a:ext uri="{FF2B5EF4-FFF2-40B4-BE49-F238E27FC236}">
                <a16:creationId xmlns:a16="http://schemas.microsoft.com/office/drawing/2014/main" id="{8F3C2094-24A8-38A5-7EF0-0CFEC73EB310}"/>
              </a:ext>
            </a:extLst>
          </p:cNvPr>
          <p:cNvPicPr>
            <a:picLocks noChangeAspect="1"/>
          </p:cNvPicPr>
          <p:nvPr/>
        </p:nvPicPr>
        <p:blipFill>
          <a:blip r:embed="rId4"/>
          <a:stretch>
            <a:fillRect/>
          </a:stretch>
        </p:blipFill>
        <p:spPr>
          <a:xfrm>
            <a:off x="1296119" y="3646458"/>
            <a:ext cx="4538932" cy="20955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132394" y="188966"/>
            <a:ext cx="10430490" cy="820647"/>
          </a:xfrm>
          <a:prstGeom prst="rect">
            <a:avLst/>
          </a:prstGeom>
        </p:spPr>
        <p:txBody>
          <a:bodyPr vert="horz" wrap="square" lIns="0" tIns="507910" rIns="0" bIns="0" rtlCol="0" anchor="t">
            <a:spAutoFit/>
          </a:bodyPr>
          <a:lstStyle/>
          <a:p>
            <a:pPr marL="322580">
              <a:spcBef>
                <a:spcPts val="125"/>
              </a:spcBef>
            </a:pPr>
            <a:r>
              <a:rPr lang="en-US" spc="-10" dirty="0">
                <a:latin typeface="Arial"/>
              </a:rPr>
              <a:t>V. </a:t>
            </a:r>
            <a:r>
              <a:rPr lang="en" spc="-10" dirty="0">
                <a:latin typeface="Arial"/>
                <a:cs typeface="Arial"/>
              </a:rPr>
              <a:t>How do leave days correlate with payroll amounts?</a:t>
            </a:r>
            <a:endParaRPr lang="en-US" spc="-10" dirty="0">
              <a:latin typeface="Arial"/>
            </a:endParaRPr>
          </a:p>
        </p:txBody>
      </p:sp>
      <p:pic>
        <p:nvPicPr>
          <p:cNvPr id="7" name="Picture 6" descr="A screenshot of a computer code&#10;&#10;AI-generated content may be incorrect.">
            <a:extLst>
              <a:ext uri="{FF2B5EF4-FFF2-40B4-BE49-F238E27FC236}">
                <a16:creationId xmlns:a16="http://schemas.microsoft.com/office/drawing/2014/main" id="{12A270DA-DC91-8047-B860-99830E947968}"/>
              </a:ext>
            </a:extLst>
          </p:cNvPr>
          <p:cNvPicPr>
            <a:picLocks noChangeAspect="1"/>
          </p:cNvPicPr>
          <p:nvPr/>
        </p:nvPicPr>
        <p:blipFill>
          <a:blip r:embed="rId2"/>
          <a:stretch>
            <a:fillRect/>
          </a:stretch>
        </p:blipFill>
        <p:spPr>
          <a:xfrm>
            <a:off x="843322" y="1532626"/>
            <a:ext cx="4524375" cy="2513163"/>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467F60C-030A-E643-563D-AC5A07DD4D31}"/>
              </a:ext>
            </a:extLst>
          </p:cNvPr>
          <p:cNvPicPr>
            <a:picLocks noChangeAspect="1"/>
          </p:cNvPicPr>
          <p:nvPr/>
        </p:nvPicPr>
        <p:blipFill>
          <a:blip r:embed="rId3"/>
          <a:stretch>
            <a:fillRect/>
          </a:stretch>
        </p:blipFill>
        <p:spPr>
          <a:xfrm>
            <a:off x="6091867" y="2281238"/>
            <a:ext cx="4594644" cy="3675751"/>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bject 8"/>
          <p:cNvSpPr txBox="1">
            <a:spLocks noGrp="1"/>
          </p:cNvSpPr>
          <p:nvPr>
            <p:ph type="title"/>
          </p:nvPr>
        </p:nvSpPr>
        <p:spPr>
          <a:xfrm>
            <a:off x="647863" y="188966"/>
            <a:ext cx="9915021" cy="2389692"/>
          </a:xfrm>
          <a:prstGeom prst="rect">
            <a:avLst/>
          </a:prstGeom>
        </p:spPr>
        <p:txBody>
          <a:bodyPr vert="horz" wrap="square" lIns="0" tIns="525081" rIns="0" bIns="0" rtlCol="0" anchor="t">
            <a:spAutoFit/>
          </a:bodyPr>
          <a:lstStyle/>
          <a:p>
            <a:pPr algn="l">
              <a:lnSpc>
                <a:spcPct val="150000"/>
              </a:lnSpc>
            </a:pPr>
            <a:r>
              <a:rPr lang="en" sz="2400" spc="-10" dirty="0">
                <a:latin typeface="Arial"/>
                <a:cs typeface="Arial"/>
              </a:rPr>
              <a:t>5. PAYROLL AND COMPENSATION ANALYSIS</a:t>
            </a:r>
            <a:endParaRPr lang="en-US" sz="2400" b="0" spc="-10" dirty="0">
              <a:latin typeface="Arial"/>
              <a:cs typeface="Arial"/>
            </a:endParaRPr>
          </a:p>
          <a:p>
            <a:pPr marL="457200" indent="-457200" algn="l">
              <a:lnSpc>
                <a:spcPct val="150000"/>
              </a:lnSpc>
              <a:buAutoNum type="romanLcPeriod"/>
            </a:pPr>
            <a:r>
              <a:rPr lang="en" spc="-10">
                <a:latin typeface="Arial"/>
                <a:cs typeface="Arial"/>
              </a:rPr>
              <a:t>What is the total monthly payroll processed?</a:t>
            </a:r>
            <a:br>
              <a:rPr lang="en" sz="1200" b="0" spc="-10" dirty="0">
                <a:latin typeface="Arial"/>
                <a:cs typeface="Arial"/>
              </a:rPr>
            </a:br>
            <a:endParaRPr lang="en-US" sz="1200" b="0" spc="-10">
              <a:latin typeface="Arial"/>
              <a:cs typeface="Arial"/>
            </a:endParaRPr>
          </a:p>
          <a:p>
            <a:pPr algn="l"/>
            <a:endParaRPr lang="en" sz="1200" b="0" spc="-10" dirty="0">
              <a:latin typeface="Arial"/>
              <a:cs typeface="Arial"/>
            </a:endParaRPr>
          </a:p>
          <a:p>
            <a:pPr marL="794385">
              <a:lnSpc>
                <a:spcPct val="100000"/>
              </a:lnSpc>
              <a:spcBef>
                <a:spcPts val="100"/>
              </a:spcBef>
            </a:pPr>
            <a:endParaRPr lang="en-US" sz="2400" spc="-10" dirty="0"/>
          </a:p>
        </p:txBody>
      </p:sp>
      <p:pic>
        <p:nvPicPr>
          <p:cNvPr id="10" name="Picture 9" descr="A screenshot of a computer code&#10;&#10;AI-generated content may be incorrect.">
            <a:extLst>
              <a:ext uri="{FF2B5EF4-FFF2-40B4-BE49-F238E27FC236}">
                <a16:creationId xmlns:a16="http://schemas.microsoft.com/office/drawing/2014/main" id="{90C420E3-BB71-3D22-41A7-349E2D83ED85}"/>
              </a:ext>
            </a:extLst>
          </p:cNvPr>
          <p:cNvPicPr>
            <a:picLocks noChangeAspect="1"/>
          </p:cNvPicPr>
          <p:nvPr/>
        </p:nvPicPr>
        <p:blipFill>
          <a:blip r:embed="rId2"/>
          <a:stretch>
            <a:fillRect/>
          </a:stretch>
        </p:blipFill>
        <p:spPr>
          <a:xfrm>
            <a:off x="5418827" y="1709108"/>
            <a:ext cx="4488611" cy="1728877"/>
          </a:xfrm>
          <a:prstGeom prst="rect">
            <a:avLst/>
          </a:prstGeom>
        </p:spPr>
      </p:pic>
      <p:pic>
        <p:nvPicPr>
          <p:cNvPr id="11" name="Picture 10" descr="A close-up of a number&#10;&#10;AI-generated content may be incorrect.">
            <a:extLst>
              <a:ext uri="{FF2B5EF4-FFF2-40B4-BE49-F238E27FC236}">
                <a16:creationId xmlns:a16="http://schemas.microsoft.com/office/drawing/2014/main" id="{28B6C6CA-7903-2222-F96C-157ED6E6DF46}"/>
              </a:ext>
            </a:extLst>
          </p:cNvPr>
          <p:cNvPicPr>
            <a:picLocks noChangeAspect="1"/>
          </p:cNvPicPr>
          <p:nvPr/>
        </p:nvPicPr>
        <p:blipFill>
          <a:blip r:embed="rId3"/>
          <a:stretch>
            <a:fillRect/>
          </a:stretch>
        </p:blipFill>
        <p:spPr>
          <a:xfrm>
            <a:off x="7145458" y="3948293"/>
            <a:ext cx="4097726" cy="1649981"/>
          </a:xfrm>
          <a:prstGeom prst="rect">
            <a:avLst/>
          </a:prstGeom>
        </p:spPr>
      </p:pic>
      <p:pic>
        <p:nvPicPr>
          <p:cNvPr id="12" name="Picture 11" descr="A group of people looking at computers&#10;&#10;AI-generated content may be incorrect.">
            <a:extLst>
              <a:ext uri="{FF2B5EF4-FFF2-40B4-BE49-F238E27FC236}">
                <a16:creationId xmlns:a16="http://schemas.microsoft.com/office/drawing/2014/main" id="{768223E3-2605-ACBC-1C85-008B9246C0B8}"/>
              </a:ext>
            </a:extLst>
          </p:cNvPr>
          <p:cNvPicPr>
            <a:picLocks noChangeAspect="1"/>
          </p:cNvPicPr>
          <p:nvPr/>
        </p:nvPicPr>
        <p:blipFill>
          <a:blip r:embed="rId4"/>
          <a:stretch>
            <a:fillRect/>
          </a:stretch>
        </p:blipFill>
        <p:spPr>
          <a:xfrm>
            <a:off x="650009" y="2392795"/>
            <a:ext cx="4380345" cy="3654136"/>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703894" y="188966"/>
            <a:ext cx="9858990" cy="1019532"/>
          </a:xfrm>
          <a:prstGeom prst="rect">
            <a:avLst/>
          </a:prstGeom>
        </p:spPr>
        <p:txBody>
          <a:bodyPr vert="horz" wrap="square" lIns="0" tIns="430552" rIns="0" bIns="0" rtlCol="0" anchor="t">
            <a:spAutoFit/>
          </a:bodyPr>
          <a:lstStyle/>
          <a:p>
            <a:pPr marL="285750" indent="-285750" algn="l">
              <a:lnSpc>
                <a:spcPct val="150000"/>
              </a:lnSpc>
              <a:buFont typeface="Arial,Sans-Serif"/>
              <a:buChar char="•"/>
            </a:pPr>
            <a:endParaRPr lang="en-US" sz="1200" b="0" spc="-10" dirty="0">
              <a:latin typeface="Arial"/>
              <a:cs typeface="Arial"/>
            </a:endParaRPr>
          </a:p>
          <a:p>
            <a:pPr algn="l"/>
            <a:r>
              <a:rPr lang="en" spc="-10" dirty="0">
                <a:latin typeface="Arial"/>
                <a:cs typeface="Arial"/>
              </a:rPr>
              <a:t>ii. What is the average bonus given per department?</a:t>
            </a:r>
            <a:endParaRPr lang="en-US" dirty="0"/>
          </a:p>
        </p:txBody>
      </p:sp>
      <p:pic>
        <p:nvPicPr>
          <p:cNvPr id="7" name="Picture 6" descr="A screenshot of a computer code&#10;&#10;AI-generated content may be incorrect.">
            <a:extLst>
              <a:ext uri="{FF2B5EF4-FFF2-40B4-BE49-F238E27FC236}">
                <a16:creationId xmlns:a16="http://schemas.microsoft.com/office/drawing/2014/main" id="{61EBAF97-D17C-777B-9BA3-9A5ED39CF5D2}"/>
              </a:ext>
            </a:extLst>
          </p:cNvPr>
          <p:cNvPicPr>
            <a:picLocks noChangeAspect="1"/>
          </p:cNvPicPr>
          <p:nvPr/>
        </p:nvPicPr>
        <p:blipFill>
          <a:blip r:embed="rId2"/>
          <a:stretch>
            <a:fillRect/>
          </a:stretch>
        </p:blipFill>
        <p:spPr>
          <a:xfrm>
            <a:off x="948367" y="1737774"/>
            <a:ext cx="4400550" cy="246230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C0F75FA0-C985-3F64-3DEA-8EB456DFCE57}"/>
              </a:ext>
            </a:extLst>
          </p:cNvPr>
          <p:cNvPicPr>
            <a:picLocks noChangeAspect="1"/>
          </p:cNvPicPr>
          <p:nvPr/>
        </p:nvPicPr>
        <p:blipFill>
          <a:blip r:embed="rId3"/>
          <a:stretch>
            <a:fillRect/>
          </a:stretch>
        </p:blipFill>
        <p:spPr>
          <a:xfrm>
            <a:off x="6093754" y="2447925"/>
            <a:ext cx="4317700" cy="329924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txBox="1">
            <a:spLocks noGrp="1"/>
          </p:cNvSpPr>
          <p:nvPr>
            <p:ph type="title"/>
          </p:nvPr>
        </p:nvSpPr>
        <p:spPr>
          <a:xfrm>
            <a:off x="821163" y="338910"/>
            <a:ext cx="7183008" cy="1236429"/>
          </a:xfrm>
          <a:prstGeom prst="rect">
            <a:avLst/>
          </a:prstGeom>
        </p:spPr>
        <p:txBody>
          <a:bodyPr vert="horz" wrap="square" lIns="0" tIns="6350" rIns="0" bIns="0" rtlCol="0" anchor="t">
            <a:spAutoFit/>
          </a:bodyPr>
          <a:lstStyle/>
          <a:p>
            <a:pPr algn="l"/>
            <a:br>
              <a:rPr lang="en-US" spc="-10" dirty="0">
                <a:latin typeface="Arial"/>
              </a:rPr>
            </a:br>
            <a:r>
              <a:rPr lang="en-US" spc="-10" dirty="0">
                <a:latin typeface="Arial"/>
              </a:rPr>
              <a:t>iii.</a:t>
            </a:r>
            <a:r>
              <a:rPr lang="en" spc="-10" dirty="0">
                <a:latin typeface="Arial"/>
                <a:cs typeface="Arial"/>
              </a:rPr>
              <a:t>Which department receives the highest total bonuses?</a:t>
            </a:r>
            <a:br>
              <a:rPr lang="en" spc="-10" dirty="0">
                <a:latin typeface="Arial"/>
                <a:cs typeface="Arial"/>
              </a:rPr>
            </a:br>
            <a:endParaRPr lang="en-US" spc="-10">
              <a:latin typeface="Arial"/>
              <a:cs typeface="Arial"/>
            </a:endParaRPr>
          </a:p>
          <a:p>
            <a:pPr marL="12700" marR="5080">
              <a:lnSpc>
                <a:spcPct val="102299"/>
              </a:lnSpc>
              <a:spcBef>
                <a:spcPts val="50"/>
              </a:spcBef>
            </a:pPr>
            <a:endParaRPr lang="en-US" spc="-10" dirty="0">
              <a:latin typeface="Arial"/>
            </a:endParaRPr>
          </a:p>
        </p:txBody>
      </p:sp>
      <p:pic>
        <p:nvPicPr>
          <p:cNvPr id="7" name="Picture 6" descr="A computer code with text&#10;&#10;AI-generated content may be incorrect.">
            <a:extLst>
              <a:ext uri="{FF2B5EF4-FFF2-40B4-BE49-F238E27FC236}">
                <a16:creationId xmlns:a16="http://schemas.microsoft.com/office/drawing/2014/main" id="{F94E7362-3049-867B-9A24-E609904ED495}"/>
              </a:ext>
            </a:extLst>
          </p:cNvPr>
          <p:cNvPicPr>
            <a:picLocks noChangeAspect="1"/>
          </p:cNvPicPr>
          <p:nvPr/>
        </p:nvPicPr>
        <p:blipFill>
          <a:blip r:embed="rId2"/>
          <a:stretch>
            <a:fillRect/>
          </a:stretch>
        </p:blipFill>
        <p:spPr>
          <a:xfrm>
            <a:off x="675377" y="1499109"/>
            <a:ext cx="6456152" cy="3255933"/>
          </a:xfrm>
          <a:prstGeom prst="rect">
            <a:avLst/>
          </a:prstGeom>
        </p:spPr>
      </p:pic>
      <p:pic>
        <p:nvPicPr>
          <p:cNvPr id="8" name="Picture 7" descr="A close up of a number&#10;&#10;AI-generated content may be incorrect.">
            <a:extLst>
              <a:ext uri="{FF2B5EF4-FFF2-40B4-BE49-F238E27FC236}">
                <a16:creationId xmlns:a16="http://schemas.microsoft.com/office/drawing/2014/main" id="{1471B856-74A0-13B8-918A-7A451B8A4FED}"/>
              </a:ext>
            </a:extLst>
          </p:cNvPr>
          <p:cNvPicPr>
            <a:picLocks noChangeAspect="1"/>
          </p:cNvPicPr>
          <p:nvPr/>
        </p:nvPicPr>
        <p:blipFill>
          <a:blip r:embed="rId3"/>
          <a:stretch>
            <a:fillRect/>
          </a:stretch>
        </p:blipFill>
        <p:spPr>
          <a:xfrm>
            <a:off x="7502376" y="3766329"/>
            <a:ext cx="4217777" cy="1985153"/>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txBox="1">
            <a:spLocks noGrp="1"/>
          </p:cNvSpPr>
          <p:nvPr>
            <p:ph type="title"/>
          </p:nvPr>
        </p:nvSpPr>
        <p:spPr>
          <a:xfrm>
            <a:off x="625452" y="188966"/>
            <a:ext cx="9937432" cy="1246039"/>
          </a:xfrm>
          <a:prstGeom prst="rect">
            <a:avLst/>
          </a:prstGeom>
        </p:spPr>
        <p:txBody>
          <a:bodyPr vert="horz" wrap="square" lIns="0" tIns="273596" rIns="0" bIns="0" rtlCol="0" anchor="t">
            <a:spAutoFit/>
          </a:bodyPr>
          <a:lstStyle/>
          <a:p>
            <a:pPr algn="l"/>
            <a:r>
              <a:rPr lang="en-US" spc="-10" dirty="0">
                <a:latin typeface="Arial"/>
              </a:rPr>
              <a:t>iv. What is the average value of </a:t>
            </a:r>
            <a:r>
              <a:rPr lang="en-US" spc="-10" dirty="0" err="1">
                <a:latin typeface="Arial"/>
              </a:rPr>
              <a:t>total_amount</a:t>
            </a:r>
            <a:r>
              <a:rPr lang="en-US" spc="-10" dirty="0">
                <a:latin typeface="Arial"/>
              </a:rPr>
              <a:t> after consider</a:t>
            </a:r>
            <a:br>
              <a:rPr lang="en" spc="-10" dirty="0">
                <a:latin typeface="Arial"/>
                <a:cs typeface="Arial"/>
              </a:rPr>
            </a:br>
            <a:endParaRPr lang="en-US" spc="-10">
              <a:latin typeface="Arial"/>
              <a:cs typeface="Arial"/>
            </a:endParaRPr>
          </a:p>
          <a:p>
            <a:pPr marL="362585">
              <a:lnSpc>
                <a:spcPct val="100000"/>
              </a:lnSpc>
              <a:spcBef>
                <a:spcPts val="125"/>
              </a:spcBef>
            </a:pPr>
            <a:endParaRPr lang="en-US" spc="-10" dirty="0">
              <a:latin typeface="Arial"/>
            </a:endParaRPr>
          </a:p>
        </p:txBody>
      </p:sp>
      <p:pic>
        <p:nvPicPr>
          <p:cNvPr id="7" name="Picture 6" descr="A white background with black text&#10;&#10;AI-generated content may be incorrect.">
            <a:extLst>
              <a:ext uri="{FF2B5EF4-FFF2-40B4-BE49-F238E27FC236}">
                <a16:creationId xmlns:a16="http://schemas.microsoft.com/office/drawing/2014/main" id="{EFE5A9BB-9742-4139-4160-AA143CC9A8A7}"/>
              </a:ext>
            </a:extLst>
          </p:cNvPr>
          <p:cNvPicPr>
            <a:picLocks noChangeAspect="1"/>
          </p:cNvPicPr>
          <p:nvPr/>
        </p:nvPicPr>
        <p:blipFill>
          <a:blip r:embed="rId2"/>
          <a:stretch>
            <a:fillRect/>
          </a:stretch>
        </p:blipFill>
        <p:spPr>
          <a:xfrm>
            <a:off x="776288" y="1178731"/>
            <a:ext cx="4543425" cy="173355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A82825AA-0DCD-56A5-AD5D-962944B5CBAA}"/>
              </a:ext>
            </a:extLst>
          </p:cNvPr>
          <p:cNvPicPr>
            <a:picLocks noChangeAspect="1"/>
          </p:cNvPicPr>
          <p:nvPr/>
        </p:nvPicPr>
        <p:blipFill>
          <a:blip r:embed="rId3"/>
          <a:stretch>
            <a:fillRect/>
          </a:stretch>
        </p:blipFill>
        <p:spPr>
          <a:xfrm>
            <a:off x="5931685" y="1607404"/>
            <a:ext cx="4753259" cy="4211307"/>
          </a:xfrm>
          <a:prstGeom prst="rect">
            <a:avLst/>
          </a:prstGeom>
        </p:spPr>
      </p:pic>
      <p:pic>
        <p:nvPicPr>
          <p:cNvPr id="9" name="Picture 8" descr="A hand touching a circular icon&#10;&#10;AI-generated content may be incorrect.">
            <a:extLst>
              <a:ext uri="{FF2B5EF4-FFF2-40B4-BE49-F238E27FC236}">
                <a16:creationId xmlns:a16="http://schemas.microsoft.com/office/drawing/2014/main" id="{ACC0FC49-4384-03C4-697E-CF0CF89AC194}"/>
              </a:ext>
            </a:extLst>
          </p:cNvPr>
          <p:cNvPicPr>
            <a:picLocks noChangeAspect="1"/>
          </p:cNvPicPr>
          <p:nvPr/>
        </p:nvPicPr>
        <p:blipFill>
          <a:blip r:embed="rId4"/>
          <a:stretch>
            <a:fillRect/>
          </a:stretch>
        </p:blipFill>
        <p:spPr>
          <a:xfrm>
            <a:off x="782451" y="3434604"/>
            <a:ext cx="4273362" cy="257735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07CE6F-BE5F-D6A1-3C66-C9CF753F7BF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847123-3634-0471-26B1-93F5204458A8}"/>
              </a:ext>
            </a:extLst>
          </p:cNvPr>
          <p:cNvSpPr txBox="1">
            <a:spLocks noGrp="1"/>
          </p:cNvSpPr>
          <p:nvPr>
            <p:ph type="body" idx="1"/>
          </p:nvPr>
        </p:nvSpPr>
        <p:spPr>
          <a:xfrm>
            <a:off x="684837" y="1277042"/>
            <a:ext cx="10822324" cy="4109651"/>
          </a:xfrm>
          <a:prstGeom prst="rect">
            <a:avLst/>
          </a:prstGeom>
        </p:spPr>
        <p:txBody>
          <a:bodyPr vert="horz" wrap="square" lIns="0" tIns="12700" rIns="0" bIns="0" rtlCol="0" anchor="t">
            <a:spAutoFit/>
          </a:bodyPr>
          <a:lstStyle/>
          <a:p>
            <a:pPr marL="342900" indent="-342900" algn="l">
              <a:buFont typeface="Arial"/>
              <a:buChar char="•"/>
            </a:pPr>
            <a:r>
              <a:rPr lang="en-US" b="0" spc="-10" dirty="0"/>
              <a:t>Successfully analyzed multi-table data using SQL JOINs and aggregate functions.</a:t>
            </a:r>
            <a:endParaRPr lang="en-US" dirty="0"/>
          </a:p>
          <a:p>
            <a:pPr marL="342900" indent="-342900" algn="l">
              <a:buFont typeface="Arial"/>
              <a:buChar char="•"/>
            </a:pPr>
            <a:endParaRPr lang="en-US"/>
          </a:p>
          <a:p>
            <a:pPr marL="342900" indent="-342900" algn="l">
              <a:buFont typeface="Arial"/>
              <a:buChar char="•"/>
            </a:pPr>
            <a:r>
              <a:rPr lang="en-US" b="0" spc="-10" dirty="0"/>
              <a:t>Improved understanding of primary–foreign key relationships and relational database design.</a:t>
            </a:r>
            <a:endParaRPr lang="en-US" dirty="0"/>
          </a:p>
          <a:p>
            <a:pPr marL="342900" indent="-342900" algn="l">
              <a:buFont typeface="Arial"/>
              <a:buChar char="•"/>
            </a:pPr>
            <a:endParaRPr lang="en-US"/>
          </a:p>
          <a:p>
            <a:pPr marL="342900" indent="-342900" algn="l">
              <a:buFont typeface="Arial"/>
              <a:buChar char="•"/>
            </a:pPr>
            <a:r>
              <a:rPr lang="en-US" b="0" spc="-10" dirty="0"/>
              <a:t>Identified important insights such as employee leave trends and payroll patterns.</a:t>
            </a:r>
            <a:endParaRPr lang="en-US" dirty="0"/>
          </a:p>
          <a:p>
            <a:pPr marL="342900" indent="-342900" algn="l">
              <a:buFont typeface="Arial"/>
              <a:buChar char="•"/>
            </a:pPr>
            <a:endParaRPr lang="en-US"/>
          </a:p>
          <a:p>
            <a:pPr marL="342900" indent="-342900" algn="l">
              <a:buFont typeface="Arial"/>
              <a:buChar char="•"/>
            </a:pPr>
            <a:r>
              <a:rPr lang="en-US" b="0" spc="-10" dirty="0"/>
              <a:t>Enhanced skills in cleaning data, handling NULL values, and fixing inconsistent formats.</a:t>
            </a:r>
            <a:endParaRPr lang="en-US" dirty="0"/>
          </a:p>
          <a:p>
            <a:pPr algn="l"/>
            <a:endParaRPr lang="en-US"/>
          </a:p>
          <a:p>
            <a:pPr marL="354965" marR="5080" indent="-342900" algn="l">
              <a:lnSpc>
                <a:spcPct val="114599"/>
              </a:lnSpc>
              <a:spcBef>
                <a:spcPts val="100"/>
              </a:spcBef>
              <a:buFont typeface="Arial"/>
              <a:buChar char="•"/>
            </a:pPr>
            <a:r>
              <a:rPr lang="en-US" b="0" spc="-10" dirty="0"/>
              <a:t>Learned to write efficient queries and validate results for accuracy.</a:t>
            </a:r>
            <a:endParaRPr lang="en-US" dirty="0"/>
          </a:p>
        </p:txBody>
      </p:sp>
      <p:sp>
        <p:nvSpPr>
          <p:cNvPr id="3" name="object 3">
            <a:extLst>
              <a:ext uri="{FF2B5EF4-FFF2-40B4-BE49-F238E27FC236}">
                <a16:creationId xmlns:a16="http://schemas.microsoft.com/office/drawing/2014/main" id="{593EAD7B-C6FC-C462-75FD-00A81DF75F96}"/>
              </a:ext>
            </a:extLst>
          </p:cNvPr>
          <p:cNvSpPr txBox="1">
            <a:spLocks noGrp="1"/>
          </p:cNvSpPr>
          <p:nvPr>
            <p:ph type="title"/>
          </p:nvPr>
        </p:nvSpPr>
        <p:spPr>
          <a:xfrm>
            <a:off x="985341" y="228663"/>
            <a:ext cx="3694287" cy="551433"/>
          </a:xfrm>
          <a:prstGeom prst="rect">
            <a:avLst/>
          </a:prstGeom>
        </p:spPr>
        <p:txBody>
          <a:bodyPr vert="horz" wrap="square" lIns="0" tIns="12700" rIns="0" bIns="0" rtlCol="0" anchor="t">
            <a:spAutoFit/>
          </a:bodyPr>
          <a:lstStyle/>
          <a:p>
            <a:pPr marL="12700">
              <a:spcBef>
                <a:spcPts val="100"/>
              </a:spcBef>
            </a:pPr>
            <a:r>
              <a:rPr lang="en-US" sz="3500" b="0" spc="-215" dirty="0">
                <a:latin typeface="Arial Black"/>
                <a:cs typeface="Arial Black"/>
              </a:rPr>
              <a:t>Key Insights</a:t>
            </a:r>
            <a:r>
              <a:rPr sz="3500" b="0" spc="-215" dirty="0">
                <a:latin typeface="Arial Black"/>
                <a:cs typeface="Arial Black"/>
              </a:rPr>
              <a:t>:</a:t>
            </a:r>
            <a:endParaRPr sz="3500" dirty="0">
              <a:latin typeface="Arial Black"/>
              <a:cs typeface="Arial Black"/>
            </a:endParaRPr>
          </a:p>
        </p:txBody>
      </p:sp>
    </p:spTree>
    <p:extLst>
      <p:ext uri="{BB962C8B-B14F-4D97-AF65-F5344CB8AC3E}">
        <p14:creationId xmlns:p14="http://schemas.microsoft.com/office/powerpoint/2010/main" val="34710972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AB96EC-1E6F-A506-2440-278407EDD3F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5E177152-B441-27C6-F3CC-B5BACFDFF03E}"/>
              </a:ext>
            </a:extLst>
          </p:cNvPr>
          <p:cNvSpPr txBox="1">
            <a:spLocks noGrp="1"/>
          </p:cNvSpPr>
          <p:nvPr>
            <p:ph type="body" idx="1"/>
          </p:nvPr>
        </p:nvSpPr>
        <p:spPr>
          <a:xfrm>
            <a:off x="684837" y="1277042"/>
            <a:ext cx="8906118" cy="4814138"/>
          </a:xfrm>
          <a:prstGeom prst="rect">
            <a:avLst/>
          </a:prstGeom>
        </p:spPr>
        <p:txBody>
          <a:bodyPr vert="horz" wrap="square" lIns="0" tIns="12700" rIns="0" bIns="0" rtlCol="0" anchor="t">
            <a:spAutoFit/>
          </a:bodyPr>
          <a:lstStyle/>
          <a:p>
            <a:pPr marL="285750" indent="-285750" algn="just">
              <a:lnSpc>
                <a:spcPct val="150000"/>
              </a:lnSpc>
              <a:buFont typeface="Arial"/>
              <a:buChar char="•"/>
            </a:pPr>
            <a:r>
              <a:rPr lang="en-US" b="0" spc="-10" dirty="0"/>
              <a:t>Defining correct table relationships and using foreign keys accurately.</a:t>
            </a:r>
            <a:endParaRPr lang="en-US" dirty="0"/>
          </a:p>
          <a:p>
            <a:pPr marL="285750" indent="-285750" algn="just">
              <a:lnSpc>
                <a:spcPct val="150000"/>
              </a:lnSpc>
              <a:buFont typeface="Arial"/>
              <a:buChar char="•"/>
            </a:pPr>
            <a:r>
              <a:rPr lang="en-US" b="0" spc="-10" dirty="0"/>
              <a:t>Maintaining data consistency through cascading updates and deletes.</a:t>
            </a:r>
            <a:endParaRPr lang="en-US" dirty="0"/>
          </a:p>
          <a:p>
            <a:pPr marL="285750" indent="-285750" algn="just">
              <a:lnSpc>
                <a:spcPct val="150000"/>
              </a:lnSpc>
              <a:buFont typeface="Arial"/>
              <a:buChar char="•"/>
            </a:pPr>
            <a:r>
              <a:rPr lang="en-US" b="0" spc="-10" dirty="0"/>
              <a:t>Writing complex JOIN queries for reports combining employee roles, leaves, and payroll.</a:t>
            </a:r>
            <a:endParaRPr lang="en-US" dirty="0"/>
          </a:p>
          <a:p>
            <a:pPr marL="285750" indent="-285750" algn="just">
              <a:lnSpc>
                <a:spcPct val="150000"/>
              </a:lnSpc>
              <a:buFont typeface="Arial"/>
              <a:buChar char="•"/>
            </a:pPr>
            <a:r>
              <a:rPr lang="en-US" b="0" spc="-10" dirty="0"/>
              <a:t>Ensuring all date fields follow the </a:t>
            </a:r>
            <a:r>
              <a:rPr lang="en-US" spc="-10" dirty="0"/>
              <a:t>YYYY-MM-DD</a:t>
            </a:r>
            <a:r>
              <a:rPr lang="en-US" b="0" spc="-10" dirty="0"/>
              <a:t> format for correct time-based analysis.</a:t>
            </a:r>
            <a:endParaRPr lang="en-US" dirty="0"/>
          </a:p>
          <a:p>
            <a:pPr marL="285750" indent="-285750" algn="just">
              <a:lnSpc>
                <a:spcPct val="150000"/>
              </a:lnSpc>
              <a:buFont typeface="Arial"/>
              <a:buChar char="•"/>
            </a:pPr>
            <a:r>
              <a:rPr lang="en-US" b="0" spc="-10" dirty="0"/>
              <a:t>Preventing duplicate entries using unique constraints, especially on email fields.</a:t>
            </a:r>
            <a:endParaRPr lang="en-US" dirty="0"/>
          </a:p>
          <a:p>
            <a:pPr algn="l"/>
            <a:endParaRPr lang="en-US" b="0" spc="-10" dirty="0"/>
          </a:p>
        </p:txBody>
      </p:sp>
      <p:sp>
        <p:nvSpPr>
          <p:cNvPr id="3" name="object 3">
            <a:extLst>
              <a:ext uri="{FF2B5EF4-FFF2-40B4-BE49-F238E27FC236}">
                <a16:creationId xmlns:a16="http://schemas.microsoft.com/office/drawing/2014/main" id="{D921900E-3E2D-BCAA-0F58-6C226E898F28}"/>
              </a:ext>
            </a:extLst>
          </p:cNvPr>
          <p:cNvSpPr txBox="1">
            <a:spLocks noGrp="1"/>
          </p:cNvSpPr>
          <p:nvPr>
            <p:ph type="title"/>
          </p:nvPr>
        </p:nvSpPr>
        <p:spPr>
          <a:xfrm>
            <a:off x="1041370" y="721722"/>
            <a:ext cx="4075287" cy="551433"/>
          </a:xfrm>
          <a:prstGeom prst="rect">
            <a:avLst/>
          </a:prstGeom>
        </p:spPr>
        <p:txBody>
          <a:bodyPr vert="horz" wrap="square" lIns="0" tIns="12700" rIns="0" bIns="0" rtlCol="0" anchor="t">
            <a:spAutoFit/>
          </a:bodyPr>
          <a:lstStyle/>
          <a:p>
            <a:pPr marL="12700">
              <a:spcBef>
                <a:spcPts val="100"/>
              </a:spcBef>
            </a:pPr>
            <a:r>
              <a:rPr lang="en-US" sz="3500" b="0" spc="-215" dirty="0">
                <a:latin typeface="Arial Black"/>
                <a:cs typeface="Arial Black"/>
              </a:rPr>
              <a:t>Challenges:</a:t>
            </a:r>
          </a:p>
        </p:txBody>
      </p:sp>
    </p:spTree>
    <p:extLst>
      <p:ext uri="{BB962C8B-B14F-4D97-AF65-F5344CB8AC3E}">
        <p14:creationId xmlns:p14="http://schemas.microsoft.com/office/powerpoint/2010/main" val="1753579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body" idx="1"/>
          </p:nvPr>
        </p:nvSpPr>
        <p:spPr>
          <a:xfrm>
            <a:off x="684837" y="940865"/>
            <a:ext cx="10732676" cy="5402313"/>
          </a:xfrm>
          <a:prstGeom prst="rect">
            <a:avLst/>
          </a:prstGeom>
        </p:spPr>
        <p:txBody>
          <a:bodyPr vert="horz" wrap="square" lIns="0" tIns="12700" rIns="0" bIns="0" rtlCol="0" anchor="t">
            <a:spAutoFit/>
          </a:bodyPr>
          <a:lstStyle/>
          <a:p>
            <a:pPr marL="285750" indent="-285750" algn="just">
              <a:lnSpc>
                <a:spcPct val="150000"/>
              </a:lnSpc>
              <a:buFont typeface="Arial"/>
              <a:buChar char="•"/>
            </a:pPr>
            <a:r>
              <a:rPr lang="en-US" b="0" spc="-10"/>
              <a:t>The Employee Management System successfully integrates employee, job, payroll, qualification, and leave information into a well-structured relational database. By designing proper table relationships, applying foreign key constraints, and using cascading actions, the system ensures high data accuracy and consistency. The SQL-based analysis provides clear insights into payroll trends, department performance, salaries, employee qualifications, and leave patterns. Overall, this project demonstrates effective use of SQL for real-world data management and showcases the importance of clean database design, efficient querying, and reliable reporting in organizational HR operations.</a:t>
            </a:r>
            <a:endParaRPr lang="en-US" b="0" spc="-10" dirty="0"/>
          </a:p>
          <a:p>
            <a:pPr marL="12065" marR="5080" algn="ctr">
              <a:lnSpc>
                <a:spcPct val="114599"/>
              </a:lnSpc>
              <a:spcBef>
                <a:spcPts val="100"/>
              </a:spcBef>
            </a:pPr>
            <a:endParaRPr spc="-10" dirty="0"/>
          </a:p>
        </p:txBody>
      </p:sp>
      <p:sp>
        <p:nvSpPr>
          <p:cNvPr id="3" name="object 3"/>
          <p:cNvSpPr txBox="1">
            <a:spLocks noGrp="1"/>
          </p:cNvSpPr>
          <p:nvPr>
            <p:ph type="title"/>
          </p:nvPr>
        </p:nvSpPr>
        <p:spPr>
          <a:xfrm>
            <a:off x="985341" y="228663"/>
            <a:ext cx="2522855" cy="558800"/>
          </a:xfrm>
          <a:prstGeom prst="rect">
            <a:avLst/>
          </a:prstGeom>
        </p:spPr>
        <p:txBody>
          <a:bodyPr vert="horz" wrap="square" lIns="0" tIns="12700" rIns="0" bIns="0" rtlCol="0">
            <a:spAutoFit/>
          </a:bodyPr>
          <a:lstStyle/>
          <a:p>
            <a:pPr marL="12700">
              <a:lnSpc>
                <a:spcPct val="100000"/>
              </a:lnSpc>
              <a:spcBef>
                <a:spcPts val="100"/>
              </a:spcBef>
            </a:pPr>
            <a:r>
              <a:rPr sz="3500" b="0" spc="-215" dirty="0">
                <a:latin typeface="Arial Black"/>
                <a:cs typeface="Arial Black"/>
              </a:rPr>
              <a:t>conclusion:</a:t>
            </a:r>
            <a:endParaRPr sz="3500">
              <a:latin typeface="Arial Black"/>
              <a:cs typeface="Arial Black"/>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991100" y="1714500"/>
            <a:ext cx="4467224" cy="2838449"/>
          </a:xfrm>
          <a:prstGeom prst="rect">
            <a:avLst/>
          </a:prstGeom>
        </p:spPr>
      </p:pic>
      <p:sp>
        <p:nvSpPr>
          <p:cNvPr id="3" name="object 3"/>
          <p:cNvSpPr txBox="1">
            <a:spLocks noGrp="1"/>
          </p:cNvSpPr>
          <p:nvPr>
            <p:ph type="title"/>
          </p:nvPr>
        </p:nvSpPr>
        <p:spPr>
          <a:xfrm>
            <a:off x="1369948" y="2129183"/>
            <a:ext cx="2240915" cy="1367790"/>
          </a:xfrm>
          <a:prstGeom prst="rect">
            <a:avLst/>
          </a:prstGeom>
        </p:spPr>
        <p:txBody>
          <a:bodyPr vert="horz" wrap="square" lIns="0" tIns="33655" rIns="0" bIns="0" rtlCol="0">
            <a:spAutoFit/>
          </a:bodyPr>
          <a:lstStyle/>
          <a:p>
            <a:pPr marL="12700" marR="5080">
              <a:lnSpc>
                <a:spcPts val="5250"/>
              </a:lnSpc>
              <a:spcBef>
                <a:spcPts val="265"/>
              </a:spcBef>
            </a:pPr>
            <a:r>
              <a:rPr sz="4400" b="0" spc="125" dirty="0">
                <a:solidFill>
                  <a:srgbClr val="BF0000"/>
                </a:solidFill>
                <a:latin typeface="Palatino Linotype"/>
                <a:cs typeface="Palatino Linotype"/>
              </a:rPr>
              <a:t>THANK </a:t>
            </a:r>
            <a:r>
              <a:rPr sz="4400" b="0" spc="85" dirty="0">
                <a:solidFill>
                  <a:srgbClr val="BF0000"/>
                </a:solidFill>
                <a:latin typeface="Palatino Linotype"/>
                <a:cs typeface="Palatino Linotype"/>
              </a:rPr>
              <a:t>YOU</a:t>
            </a:r>
            <a:endParaRPr sz="4400">
              <a:latin typeface="Palatino Linotype"/>
              <a:cs typeface="Palatino Linotype"/>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Application>Microsoft Office PowerPoint</Application>
  <PresentationFormat>Widescreen</PresentationFormat>
  <Slides>32</Slides>
  <Notes>0</Notes>
  <HiddenSlides>0</HiddenSlide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PowerPoint Presentation</vt:lpstr>
      <vt:lpstr>PowerPoint Presentation</vt:lpstr>
      <vt:lpstr>PowerPoint Presentation</vt:lpstr>
      <vt:lpstr>Job Department Table</vt:lpstr>
      <vt:lpstr>PowerPoint Presentation</vt:lpstr>
      <vt:lpstr>ER Diagram:</vt:lpstr>
      <vt:lpstr>Problem Statement:</vt:lpstr>
      <vt:lpstr>Analysis Questions 1. EMPLOYEE INSIGHTS How many unique employees are currently in the system?                      </vt:lpstr>
      <vt:lpstr>ii. Which departments have the highest number of employees?</vt:lpstr>
      <vt:lpstr>iii.What is the average salary per department?</vt:lpstr>
      <vt:lpstr>iv. Who are the top 5 highest-paid employees?</vt:lpstr>
      <vt:lpstr>V. What is the total salary expenditure across the company?</vt:lpstr>
      <vt:lpstr>PowerPoint Presentation</vt:lpstr>
      <vt:lpstr>ii. What is the average salary range per department?</vt:lpstr>
      <vt:lpstr>PowerPoint Presentation</vt:lpstr>
      <vt:lpstr>iv. Which departments have the highest total salary allocation?</vt:lpstr>
      <vt:lpstr>3. QUALIFICATION AND SKILLS ANALYSIS  How many employees have at least one qualification listed?   </vt:lpstr>
      <vt:lpstr>PowerPoint Presentation</vt:lpstr>
      <vt:lpstr> iii. Which employees have the highest number of qualifications?</vt:lpstr>
      <vt:lpstr>4. LEAVE AND ABSENCE PATTERNS  Which year had the most employees taking leaves?   </vt:lpstr>
      <vt:lpstr>ii. What is the average number of leave days taken by its employees per department?</vt:lpstr>
      <vt:lpstr>iii. Which employees have taken the most leaves?</vt:lpstr>
      <vt:lpstr>iv. What is the total number of leave days taken company-wide?</vt:lpstr>
      <vt:lpstr>V. How do leave days correlate with payroll amounts?</vt:lpstr>
      <vt:lpstr>5. PAYROLL AND COMPENSATION ANALYSIS What is the total monthly payroll processed?   </vt:lpstr>
      <vt:lpstr> ii. What is the average bonus given per department?</vt:lpstr>
      <vt:lpstr> iii.Which department receives the highest total bonuses?  </vt:lpstr>
      <vt:lpstr>iv. What is the average value of total_amount after consider  </vt:lpstr>
      <vt:lpstr>Key Insights:</vt:lpstr>
      <vt:lpstr>Challenges: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Grocery sql ppt.pdf</dc:title>
  <dc:creator>Naveen Pichuka</dc:creator>
  <cp:keywords>DAG5ZThQArc,BAG5UATYSZ4,0</cp:keywords>
  <cp:revision>805</cp:revision>
  <dcterms:created xsi:type="dcterms:W3CDTF">2025-11-23T06:04:07Z</dcterms:created>
  <dcterms:modified xsi:type="dcterms:W3CDTF">2025-11-23T10:17:53Z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2025-11-22T00:00:00Z</vt:filetime>
  </property>
  <property fmtid="{D5CDD505-2E9C-101B-9397-08002B2CF9AE}" pid="3" name="Creator">
    <vt:lpwstr>Canva</vt:lpwstr>
  </property>
  <property fmtid="{D5CDD505-2E9C-101B-9397-08002B2CF9AE}" pid="4" name="LastSaved">
    <vt:filetime>2025-11-23T00:00:00Z</vt:filetime>
  </property>
  <property fmtid="{D5CDD505-2E9C-101B-9397-08002B2CF9AE}" pid="5" name="Producer">
    <vt:lpwstr>Canva</vt:lpwstr>
  </property>
</Properties>
</file>